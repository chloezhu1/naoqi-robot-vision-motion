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57" r:id="rId4"/>
    <p:sldId id="258" r:id="rId5"/>
    <p:sldId id="259" r:id="rId6"/>
    <p:sldId id="260" r:id="rId7"/>
    <p:sldId id="262" r:id="rId8"/>
    <p:sldId id="273" r:id="rId9"/>
    <p:sldId id="263" r:id="rId10"/>
    <p:sldId id="265" r:id="rId11"/>
    <p:sldId id="266" r:id="rId12"/>
    <p:sldId id="267" r:id="rId13"/>
    <p:sldId id="268" r:id="rId14"/>
    <p:sldId id="269" r:id="rId15"/>
    <p:sldId id="270" r:id="rId16"/>
    <p:sldId id="271" r:id="rId17"/>
    <p:sldId id="277"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86" d="100"/>
          <a:sy n="86" d="100"/>
        </p:scale>
        <p:origin x="48" y="3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F3F85-26C3-2844-19E2-4A21FC45B5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CF5ECF-F1E9-7EEC-ADE1-C2A3AF607A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AEE1DF-30CF-3646-9E0B-A67769F4EBBF}"/>
              </a:ext>
            </a:extLst>
          </p:cNvPr>
          <p:cNvSpPr>
            <a:spLocks noGrp="1"/>
          </p:cNvSpPr>
          <p:nvPr>
            <p:ph type="dt" sz="half" idx="10"/>
          </p:nvPr>
        </p:nvSpPr>
        <p:spPr/>
        <p:txBody>
          <a:bodyPr/>
          <a:lstStyle/>
          <a:p>
            <a:fld id="{576FB9CB-9FE2-49EC-AF3E-9F7420C8108B}" type="datetimeFigureOut">
              <a:rPr lang="en-US" smtClean="0"/>
              <a:t>9/7/2024</a:t>
            </a:fld>
            <a:endParaRPr lang="en-US"/>
          </a:p>
        </p:txBody>
      </p:sp>
      <p:sp>
        <p:nvSpPr>
          <p:cNvPr id="5" name="Footer Placeholder 4">
            <a:extLst>
              <a:ext uri="{FF2B5EF4-FFF2-40B4-BE49-F238E27FC236}">
                <a16:creationId xmlns:a16="http://schemas.microsoft.com/office/drawing/2014/main" id="{05BE821D-F5A9-E343-390E-60A3D2605D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5B493D-BC82-D553-DD86-17AA7F099858}"/>
              </a:ext>
            </a:extLst>
          </p:cNvPr>
          <p:cNvSpPr>
            <a:spLocks noGrp="1"/>
          </p:cNvSpPr>
          <p:nvPr>
            <p:ph type="sldNum" sz="quarter" idx="12"/>
          </p:nvPr>
        </p:nvSpPr>
        <p:spPr/>
        <p:txBody>
          <a:bodyPr/>
          <a:lstStyle/>
          <a:p>
            <a:fld id="{F117723E-DC97-40F7-BFDA-151DDFF9BBC3}" type="slidenum">
              <a:rPr lang="en-US" smtClean="0"/>
              <a:t>‹#›</a:t>
            </a:fld>
            <a:endParaRPr lang="en-US"/>
          </a:p>
        </p:txBody>
      </p:sp>
    </p:spTree>
    <p:extLst>
      <p:ext uri="{BB962C8B-B14F-4D97-AF65-F5344CB8AC3E}">
        <p14:creationId xmlns:p14="http://schemas.microsoft.com/office/powerpoint/2010/main" val="1540678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5D08-7B55-5BA8-FB15-931B120D20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967A03-BE51-B9B1-25E8-1A71A2ACA5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CCB9B3-DA04-9563-DDF7-7A7A66052839}"/>
              </a:ext>
            </a:extLst>
          </p:cNvPr>
          <p:cNvSpPr>
            <a:spLocks noGrp="1"/>
          </p:cNvSpPr>
          <p:nvPr>
            <p:ph type="dt" sz="half" idx="10"/>
          </p:nvPr>
        </p:nvSpPr>
        <p:spPr/>
        <p:txBody>
          <a:bodyPr/>
          <a:lstStyle/>
          <a:p>
            <a:fld id="{576FB9CB-9FE2-49EC-AF3E-9F7420C8108B}" type="datetimeFigureOut">
              <a:rPr lang="en-US" smtClean="0"/>
              <a:t>9/7/2024</a:t>
            </a:fld>
            <a:endParaRPr lang="en-US"/>
          </a:p>
        </p:txBody>
      </p:sp>
      <p:sp>
        <p:nvSpPr>
          <p:cNvPr id="5" name="Footer Placeholder 4">
            <a:extLst>
              <a:ext uri="{FF2B5EF4-FFF2-40B4-BE49-F238E27FC236}">
                <a16:creationId xmlns:a16="http://schemas.microsoft.com/office/drawing/2014/main" id="{64B737E1-771F-BED7-97B3-50A98CD82D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3CCC2-36F6-2100-5694-8D9A1D24337D}"/>
              </a:ext>
            </a:extLst>
          </p:cNvPr>
          <p:cNvSpPr>
            <a:spLocks noGrp="1"/>
          </p:cNvSpPr>
          <p:nvPr>
            <p:ph type="sldNum" sz="quarter" idx="12"/>
          </p:nvPr>
        </p:nvSpPr>
        <p:spPr/>
        <p:txBody>
          <a:bodyPr/>
          <a:lstStyle/>
          <a:p>
            <a:fld id="{F117723E-DC97-40F7-BFDA-151DDFF9BBC3}" type="slidenum">
              <a:rPr lang="en-US" smtClean="0"/>
              <a:t>‹#›</a:t>
            </a:fld>
            <a:endParaRPr lang="en-US"/>
          </a:p>
        </p:txBody>
      </p:sp>
    </p:spTree>
    <p:extLst>
      <p:ext uri="{BB962C8B-B14F-4D97-AF65-F5344CB8AC3E}">
        <p14:creationId xmlns:p14="http://schemas.microsoft.com/office/powerpoint/2010/main" val="811118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4CDEF-854C-86BA-2590-A607DB5753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9BD078-E937-8CE5-285E-F8179D5F60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57B800-25F4-E16E-3318-2D0A87A2F928}"/>
              </a:ext>
            </a:extLst>
          </p:cNvPr>
          <p:cNvSpPr>
            <a:spLocks noGrp="1"/>
          </p:cNvSpPr>
          <p:nvPr>
            <p:ph type="dt" sz="half" idx="10"/>
          </p:nvPr>
        </p:nvSpPr>
        <p:spPr/>
        <p:txBody>
          <a:bodyPr/>
          <a:lstStyle/>
          <a:p>
            <a:fld id="{576FB9CB-9FE2-49EC-AF3E-9F7420C8108B}" type="datetimeFigureOut">
              <a:rPr lang="en-US" smtClean="0"/>
              <a:t>9/7/2024</a:t>
            </a:fld>
            <a:endParaRPr lang="en-US"/>
          </a:p>
        </p:txBody>
      </p:sp>
      <p:sp>
        <p:nvSpPr>
          <p:cNvPr id="5" name="Footer Placeholder 4">
            <a:extLst>
              <a:ext uri="{FF2B5EF4-FFF2-40B4-BE49-F238E27FC236}">
                <a16:creationId xmlns:a16="http://schemas.microsoft.com/office/drawing/2014/main" id="{C3A51CC8-B26C-B7DF-2D9A-B73CDED322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4260CD-5ACE-47DC-BBC1-30067DCFDBD2}"/>
              </a:ext>
            </a:extLst>
          </p:cNvPr>
          <p:cNvSpPr>
            <a:spLocks noGrp="1"/>
          </p:cNvSpPr>
          <p:nvPr>
            <p:ph type="sldNum" sz="quarter" idx="12"/>
          </p:nvPr>
        </p:nvSpPr>
        <p:spPr/>
        <p:txBody>
          <a:bodyPr/>
          <a:lstStyle/>
          <a:p>
            <a:fld id="{F117723E-DC97-40F7-BFDA-151DDFF9BBC3}" type="slidenum">
              <a:rPr lang="en-US" smtClean="0"/>
              <a:t>‹#›</a:t>
            </a:fld>
            <a:endParaRPr lang="en-US"/>
          </a:p>
        </p:txBody>
      </p:sp>
    </p:spTree>
    <p:extLst>
      <p:ext uri="{BB962C8B-B14F-4D97-AF65-F5344CB8AC3E}">
        <p14:creationId xmlns:p14="http://schemas.microsoft.com/office/powerpoint/2010/main" val="2359773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B47A3-8769-7897-7F36-2A92C87152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34FC94-DFA9-B6E6-14E1-05C6EC8648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60DF1B-E20F-AB11-AE59-BF7E40A944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DB397F-920F-D559-1A02-588D2FB05D30}"/>
              </a:ext>
            </a:extLst>
          </p:cNvPr>
          <p:cNvSpPr>
            <a:spLocks noGrp="1"/>
          </p:cNvSpPr>
          <p:nvPr>
            <p:ph type="dt" sz="half" idx="10"/>
          </p:nvPr>
        </p:nvSpPr>
        <p:spPr/>
        <p:txBody>
          <a:bodyPr/>
          <a:lstStyle/>
          <a:p>
            <a:fld id="{576FB9CB-9FE2-49EC-AF3E-9F7420C8108B}" type="datetimeFigureOut">
              <a:rPr lang="en-US" smtClean="0"/>
              <a:t>9/7/2024</a:t>
            </a:fld>
            <a:endParaRPr lang="en-US"/>
          </a:p>
        </p:txBody>
      </p:sp>
      <p:sp>
        <p:nvSpPr>
          <p:cNvPr id="6" name="Footer Placeholder 5">
            <a:extLst>
              <a:ext uri="{FF2B5EF4-FFF2-40B4-BE49-F238E27FC236}">
                <a16:creationId xmlns:a16="http://schemas.microsoft.com/office/drawing/2014/main" id="{1DC4D29C-3979-E292-F7EB-7579852CF2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240ED8-5112-94FE-4EE8-1F2DACD45283}"/>
              </a:ext>
            </a:extLst>
          </p:cNvPr>
          <p:cNvSpPr>
            <a:spLocks noGrp="1"/>
          </p:cNvSpPr>
          <p:nvPr>
            <p:ph type="sldNum" sz="quarter" idx="12"/>
          </p:nvPr>
        </p:nvSpPr>
        <p:spPr/>
        <p:txBody>
          <a:bodyPr/>
          <a:lstStyle/>
          <a:p>
            <a:fld id="{F117723E-DC97-40F7-BFDA-151DDFF9BBC3}" type="slidenum">
              <a:rPr lang="en-US" smtClean="0"/>
              <a:t>‹#›</a:t>
            </a:fld>
            <a:endParaRPr lang="en-US"/>
          </a:p>
        </p:txBody>
      </p:sp>
    </p:spTree>
    <p:extLst>
      <p:ext uri="{BB962C8B-B14F-4D97-AF65-F5344CB8AC3E}">
        <p14:creationId xmlns:p14="http://schemas.microsoft.com/office/powerpoint/2010/main" val="256228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41CB9-6590-A128-46D9-9EA7289A00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EA0393-DED8-4DEB-A645-C0A24F59B0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067591-2B88-56B5-7AA5-E72D12F45F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E53FB7-7A09-91BA-EAAF-09312FE913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C1C304-60C6-0241-8D7F-56CEB36BBB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28D6C0-F4B1-E758-04C9-0CCC56C768FC}"/>
              </a:ext>
            </a:extLst>
          </p:cNvPr>
          <p:cNvSpPr>
            <a:spLocks noGrp="1"/>
          </p:cNvSpPr>
          <p:nvPr>
            <p:ph type="dt" sz="half" idx="10"/>
          </p:nvPr>
        </p:nvSpPr>
        <p:spPr/>
        <p:txBody>
          <a:bodyPr/>
          <a:lstStyle/>
          <a:p>
            <a:fld id="{576FB9CB-9FE2-49EC-AF3E-9F7420C8108B}" type="datetimeFigureOut">
              <a:rPr lang="en-US" smtClean="0"/>
              <a:t>9/7/2024</a:t>
            </a:fld>
            <a:endParaRPr lang="en-US"/>
          </a:p>
        </p:txBody>
      </p:sp>
      <p:sp>
        <p:nvSpPr>
          <p:cNvPr id="8" name="Footer Placeholder 7">
            <a:extLst>
              <a:ext uri="{FF2B5EF4-FFF2-40B4-BE49-F238E27FC236}">
                <a16:creationId xmlns:a16="http://schemas.microsoft.com/office/drawing/2014/main" id="{F6AE1AEA-B1BB-AF45-1E6B-0644184A8A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E86B20-5D24-EF47-975A-ABAB3C586FD1}"/>
              </a:ext>
            </a:extLst>
          </p:cNvPr>
          <p:cNvSpPr>
            <a:spLocks noGrp="1"/>
          </p:cNvSpPr>
          <p:nvPr>
            <p:ph type="sldNum" sz="quarter" idx="12"/>
          </p:nvPr>
        </p:nvSpPr>
        <p:spPr/>
        <p:txBody>
          <a:bodyPr/>
          <a:lstStyle/>
          <a:p>
            <a:fld id="{F117723E-DC97-40F7-BFDA-151DDFF9BBC3}" type="slidenum">
              <a:rPr lang="en-US" smtClean="0"/>
              <a:t>‹#›</a:t>
            </a:fld>
            <a:endParaRPr lang="en-US"/>
          </a:p>
        </p:txBody>
      </p:sp>
    </p:spTree>
    <p:extLst>
      <p:ext uri="{BB962C8B-B14F-4D97-AF65-F5344CB8AC3E}">
        <p14:creationId xmlns:p14="http://schemas.microsoft.com/office/powerpoint/2010/main" val="3413154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51C51-DEAE-36CB-A7B5-17544522DF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343ECC-9998-6D38-1B4D-98BED8363888}"/>
              </a:ext>
            </a:extLst>
          </p:cNvPr>
          <p:cNvSpPr>
            <a:spLocks noGrp="1"/>
          </p:cNvSpPr>
          <p:nvPr>
            <p:ph type="dt" sz="half" idx="10"/>
          </p:nvPr>
        </p:nvSpPr>
        <p:spPr/>
        <p:txBody>
          <a:bodyPr/>
          <a:lstStyle/>
          <a:p>
            <a:fld id="{576FB9CB-9FE2-49EC-AF3E-9F7420C8108B}" type="datetimeFigureOut">
              <a:rPr lang="en-US" smtClean="0"/>
              <a:t>9/7/2024</a:t>
            </a:fld>
            <a:endParaRPr lang="en-US"/>
          </a:p>
        </p:txBody>
      </p:sp>
      <p:sp>
        <p:nvSpPr>
          <p:cNvPr id="4" name="Footer Placeholder 3">
            <a:extLst>
              <a:ext uri="{FF2B5EF4-FFF2-40B4-BE49-F238E27FC236}">
                <a16:creationId xmlns:a16="http://schemas.microsoft.com/office/drawing/2014/main" id="{CFF7AF5C-5002-209D-E175-420EB9CDBE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A4287E-8A94-A69F-EB84-720E37ADB9C2}"/>
              </a:ext>
            </a:extLst>
          </p:cNvPr>
          <p:cNvSpPr>
            <a:spLocks noGrp="1"/>
          </p:cNvSpPr>
          <p:nvPr>
            <p:ph type="sldNum" sz="quarter" idx="12"/>
          </p:nvPr>
        </p:nvSpPr>
        <p:spPr/>
        <p:txBody>
          <a:bodyPr/>
          <a:lstStyle/>
          <a:p>
            <a:fld id="{F117723E-DC97-40F7-BFDA-151DDFF9BBC3}" type="slidenum">
              <a:rPr lang="en-US" smtClean="0"/>
              <a:t>‹#›</a:t>
            </a:fld>
            <a:endParaRPr lang="en-US"/>
          </a:p>
        </p:txBody>
      </p:sp>
    </p:spTree>
    <p:extLst>
      <p:ext uri="{BB962C8B-B14F-4D97-AF65-F5344CB8AC3E}">
        <p14:creationId xmlns:p14="http://schemas.microsoft.com/office/powerpoint/2010/main" val="2621205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BBDAF3-C0DA-B9AE-0600-E535067B9062}"/>
              </a:ext>
            </a:extLst>
          </p:cNvPr>
          <p:cNvSpPr>
            <a:spLocks noGrp="1"/>
          </p:cNvSpPr>
          <p:nvPr>
            <p:ph type="dt" sz="half" idx="10"/>
          </p:nvPr>
        </p:nvSpPr>
        <p:spPr/>
        <p:txBody>
          <a:bodyPr/>
          <a:lstStyle/>
          <a:p>
            <a:fld id="{576FB9CB-9FE2-49EC-AF3E-9F7420C8108B}" type="datetimeFigureOut">
              <a:rPr lang="en-US" smtClean="0"/>
              <a:t>9/7/2024</a:t>
            </a:fld>
            <a:endParaRPr lang="en-US"/>
          </a:p>
        </p:txBody>
      </p:sp>
      <p:sp>
        <p:nvSpPr>
          <p:cNvPr id="3" name="Footer Placeholder 2">
            <a:extLst>
              <a:ext uri="{FF2B5EF4-FFF2-40B4-BE49-F238E27FC236}">
                <a16:creationId xmlns:a16="http://schemas.microsoft.com/office/drawing/2014/main" id="{F4DAD250-1E31-7FF5-1BDF-E1B037DA97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F14A4B-A290-0A5A-731F-7404E864381F}"/>
              </a:ext>
            </a:extLst>
          </p:cNvPr>
          <p:cNvSpPr>
            <a:spLocks noGrp="1"/>
          </p:cNvSpPr>
          <p:nvPr>
            <p:ph type="sldNum" sz="quarter" idx="12"/>
          </p:nvPr>
        </p:nvSpPr>
        <p:spPr/>
        <p:txBody>
          <a:bodyPr/>
          <a:lstStyle/>
          <a:p>
            <a:fld id="{F117723E-DC97-40F7-BFDA-151DDFF9BBC3}" type="slidenum">
              <a:rPr lang="en-US" smtClean="0"/>
              <a:t>‹#›</a:t>
            </a:fld>
            <a:endParaRPr lang="en-US"/>
          </a:p>
        </p:txBody>
      </p:sp>
    </p:spTree>
    <p:extLst>
      <p:ext uri="{BB962C8B-B14F-4D97-AF65-F5344CB8AC3E}">
        <p14:creationId xmlns:p14="http://schemas.microsoft.com/office/powerpoint/2010/main" val="2084960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5EB19-2255-312D-A944-082EA0C6A3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ED8509-F293-4C9A-A620-C3027264C4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2F611C-A841-8CCF-3896-0DB61A3FE3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3E6D1E-21B9-B1E8-E639-AF202FCED1A1}"/>
              </a:ext>
            </a:extLst>
          </p:cNvPr>
          <p:cNvSpPr>
            <a:spLocks noGrp="1"/>
          </p:cNvSpPr>
          <p:nvPr>
            <p:ph type="dt" sz="half" idx="10"/>
          </p:nvPr>
        </p:nvSpPr>
        <p:spPr/>
        <p:txBody>
          <a:bodyPr/>
          <a:lstStyle/>
          <a:p>
            <a:fld id="{576FB9CB-9FE2-49EC-AF3E-9F7420C8108B}" type="datetimeFigureOut">
              <a:rPr lang="en-US" smtClean="0"/>
              <a:t>9/7/2024</a:t>
            </a:fld>
            <a:endParaRPr lang="en-US"/>
          </a:p>
        </p:txBody>
      </p:sp>
      <p:sp>
        <p:nvSpPr>
          <p:cNvPr id="6" name="Footer Placeholder 5">
            <a:extLst>
              <a:ext uri="{FF2B5EF4-FFF2-40B4-BE49-F238E27FC236}">
                <a16:creationId xmlns:a16="http://schemas.microsoft.com/office/drawing/2014/main" id="{B68E9CB4-907A-AAB7-BE0D-99E983F85C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AEC433-816E-30D7-DD0E-64BC574D8BC5}"/>
              </a:ext>
            </a:extLst>
          </p:cNvPr>
          <p:cNvSpPr>
            <a:spLocks noGrp="1"/>
          </p:cNvSpPr>
          <p:nvPr>
            <p:ph type="sldNum" sz="quarter" idx="12"/>
          </p:nvPr>
        </p:nvSpPr>
        <p:spPr/>
        <p:txBody>
          <a:bodyPr/>
          <a:lstStyle/>
          <a:p>
            <a:fld id="{F117723E-DC97-40F7-BFDA-151DDFF9BBC3}" type="slidenum">
              <a:rPr lang="en-US" smtClean="0"/>
              <a:t>‹#›</a:t>
            </a:fld>
            <a:endParaRPr lang="en-US"/>
          </a:p>
        </p:txBody>
      </p:sp>
    </p:spTree>
    <p:extLst>
      <p:ext uri="{BB962C8B-B14F-4D97-AF65-F5344CB8AC3E}">
        <p14:creationId xmlns:p14="http://schemas.microsoft.com/office/powerpoint/2010/main" val="2775538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CBB50-5CCC-BC18-5EB7-2B5AC357F3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370821-9548-2186-D85B-2BA1530C90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04CC03-AF9F-CD5A-1E45-1A3924058C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45E460-32EC-B429-0C11-BECA504DCB73}"/>
              </a:ext>
            </a:extLst>
          </p:cNvPr>
          <p:cNvSpPr>
            <a:spLocks noGrp="1"/>
          </p:cNvSpPr>
          <p:nvPr>
            <p:ph type="dt" sz="half" idx="10"/>
          </p:nvPr>
        </p:nvSpPr>
        <p:spPr/>
        <p:txBody>
          <a:bodyPr/>
          <a:lstStyle/>
          <a:p>
            <a:fld id="{576FB9CB-9FE2-49EC-AF3E-9F7420C8108B}" type="datetimeFigureOut">
              <a:rPr lang="en-US" smtClean="0"/>
              <a:t>9/7/2024</a:t>
            </a:fld>
            <a:endParaRPr lang="en-US"/>
          </a:p>
        </p:txBody>
      </p:sp>
      <p:sp>
        <p:nvSpPr>
          <p:cNvPr id="6" name="Footer Placeholder 5">
            <a:extLst>
              <a:ext uri="{FF2B5EF4-FFF2-40B4-BE49-F238E27FC236}">
                <a16:creationId xmlns:a16="http://schemas.microsoft.com/office/drawing/2014/main" id="{F41627C5-6E21-E7EC-A98F-F2D9BDB734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998B8D-3946-EA2F-FE38-B0BFFE0FE017}"/>
              </a:ext>
            </a:extLst>
          </p:cNvPr>
          <p:cNvSpPr>
            <a:spLocks noGrp="1"/>
          </p:cNvSpPr>
          <p:nvPr>
            <p:ph type="sldNum" sz="quarter" idx="12"/>
          </p:nvPr>
        </p:nvSpPr>
        <p:spPr/>
        <p:txBody>
          <a:bodyPr/>
          <a:lstStyle/>
          <a:p>
            <a:fld id="{F117723E-DC97-40F7-BFDA-151DDFF9BBC3}" type="slidenum">
              <a:rPr lang="en-US" smtClean="0"/>
              <a:t>‹#›</a:t>
            </a:fld>
            <a:endParaRPr lang="en-US"/>
          </a:p>
        </p:txBody>
      </p:sp>
    </p:spTree>
    <p:extLst>
      <p:ext uri="{BB962C8B-B14F-4D97-AF65-F5344CB8AC3E}">
        <p14:creationId xmlns:p14="http://schemas.microsoft.com/office/powerpoint/2010/main" val="125911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DF95B-0E5E-DCA3-DF10-37FEBB27E5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DAD5D-6EA2-EE21-3A9C-653C5DF22B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A2ACEA-615D-62DF-19CF-DE9B3A913D02}"/>
              </a:ext>
            </a:extLst>
          </p:cNvPr>
          <p:cNvSpPr>
            <a:spLocks noGrp="1"/>
          </p:cNvSpPr>
          <p:nvPr>
            <p:ph type="dt" sz="half" idx="10"/>
          </p:nvPr>
        </p:nvSpPr>
        <p:spPr/>
        <p:txBody>
          <a:bodyPr/>
          <a:lstStyle/>
          <a:p>
            <a:fld id="{576FB9CB-9FE2-49EC-AF3E-9F7420C8108B}" type="datetimeFigureOut">
              <a:rPr lang="en-US" smtClean="0"/>
              <a:t>9/7/2024</a:t>
            </a:fld>
            <a:endParaRPr lang="en-US"/>
          </a:p>
        </p:txBody>
      </p:sp>
      <p:sp>
        <p:nvSpPr>
          <p:cNvPr id="5" name="Footer Placeholder 4">
            <a:extLst>
              <a:ext uri="{FF2B5EF4-FFF2-40B4-BE49-F238E27FC236}">
                <a16:creationId xmlns:a16="http://schemas.microsoft.com/office/drawing/2014/main" id="{A1469E51-2BCB-D43A-01A2-DB6ADA2251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A44EB4-1446-481F-2DBA-D2412B223B49}"/>
              </a:ext>
            </a:extLst>
          </p:cNvPr>
          <p:cNvSpPr>
            <a:spLocks noGrp="1"/>
          </p:cNvSpPr>
          <p:nvPr>
            <p:ph type="sldNum" sz="quarter" idx="12"/>
          </p:nvPr>
        </p:nvSpPr>
        <p:spPr/>
        <p:txBody>
          <a:bodyPr/>
          <a:lstStyle/>
          <a:p>
            <a:fld id="{F117723E-DC97-40F7-BFDA-151DDFF9BBC3}" type="slidenum">
              <a:rPr lang="en-US" smtClean="0"/>
              <a:t>‹#›</a:t>
            </a:fld>
            <a:endParaRPr lang="en-US"/>
          </a:p>
        </p:txBody>
      </p:sp>
    </p:spTree>
    <p:extLst>
      <p:ext uri="{BB962C8B-B14F-4D97-AF65-F5344CB8AC3E}">
        <p14:creationId xmlns:p14="http://schemas.microsoft.com/office/powerpoint/2010/main" val="1104934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61D92B-F834-8235-5705-F21CE08A0F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51E7A5-661B-96C4-9DC1-2F49086F89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36886D-20F3-C111-953E-8F3057C2CC1F}"/>
              </a:ext>
            </a:extLst>
          </p:cNvPr>
          <p:cNvSpPr>
            <a:spLocks noGrp="1"/>
          </p:cNvSpPr>
          <p:nvPr>
            <p:ph type="dt" sz="half" idx="10"/>
          </p:nvPr>
        </p:nvSpPr>
        <p:spPr/>
        <p:txBody>
          <a:bodyPr/>
          <a:lstStyle/>
          <a:p>
            <a:fld id="{576FB9CB-9FE2-49EC-AF3E-9F7420C8108B}" type="datetimeFigureOut">
              <a:rPr lang="en-US" smtClean="0"/>
              <a:t>9/7/2024</a:t>
            </a:fld>
            <a:endParaRPr lang="en-US"/>
          </a:p>
        </p:txBody>
      </p:sp>
      <p:sp>
        <p:nvSpPr>
          <p:cNvPr id="5" name="Footer Placeholder 4">
            <a:extLst>
              <a:ext uri="{FF2B5EF4-FFF2-40B4-BE49-F238E27FC236}">
                <a16:creationId xmlns:a16="http://schemas.microsoft.com/office/drawing/2014/main" id="{397E3162-FFA2-D943-1113-FCD05DE31B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4B54C9-0BFE-9631-133D-879EFD7B7C25}"/>
              </a:ext>
            </a:extLst>
          </p:cNvPr>
          <p:cNvSpPr>
            <a:spLocks noGrp="1"/>
          </p:cNvSpPr>
          <p:nvPr>
            <p:ph type="sldNum" sz="quarter" idx="12"/>
          </p:nvPr>
        </p:nvSpPr>
        <p:spPr/>
        <p:txBody>
          <a:bodyPr/>
          <a:lstStyle/>
          <a:p>
            <a:fld id="{F117723E-DC97-40F7-BFDA-151DDFF9BBC3}" type="slidenum">
              <a:rPr lang="en-US" smtClean="0"/>
              <a:t>‹#›</a:t>
            </a:fld>
            <a:endParaRPr lang="en-US"/>
          </a:p>
        </p:txBody>
      </p:sp>
    </p:spTree>
    <p:extLst>
      <p:ext uri="{BB962C8B-B14F-4D97-AF65-F5344CB8AC3E}">
        <p14:creationId xmlns:p14="http://schemas.microsoft.com/office/powerpoint/2010/main" val="1686655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54ACD7-C6A8-E977-FACB-67F3EEAF1D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0DF814-BA61-0D7F-08AE-28DBC7CDA4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0E1575-DBF7-F906-2C72-8BB645627D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6FB9CB-9FE2-49EC-AF3E-9F7420C8108B}" type="datetimeFigureOut">
              <a:rPr lang="en-US" smtClean="0"/>
              <a:t>9/7/2024</a:t>
            </a:fld>
            <a:endParaRPr lang="en-US"/>
          </a:p>
        </p:txBody>
      </p:sp>
      <p:sp>
        <p:nvSpPr>
          <p:cNvPr id="5" name="Footer Placeholder 4">
            <a:extLst>
              <a:ext uri="{FF2B5EF4-FFF2-40B4-BE49-F238E27FC236}">
                <a16:creationId xmlns:a16="http://schemas.microsoft.com/office/drawing/2014/main" id="{E6A2F82F-0992-0106-B747-9A2D0BA4A7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1EFF89F-1C03-3BC6-B9E8-7401A94EE0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17723E-DC97-40F7-BFDA-151DDFF9BBC3}" type="slidenum">
              <a:rPr lang="en-US" smtClean="0"/>
              <a:t>‹#›</a:t>
            </a:fld>
            <a:endParaRPr lang="en-US"/>
          </a:p>
        </p:txBody>
      </p:sp>
    </p:spTree>
    <p:extLst>
      <p:ext uri="{BB962C8B-B14F-4D97-AF65-F5344CB8AC3E}">
        <p14:creationId xmlns:p14="http://schemas.microsoft.com/office/powerpoint/2010/main" val="1709762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file:///\\d\d\d%5ba-z%5d"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6CA8C9-F634-4285-09E0-968FFF28545F}"/>
              </a:ext>
            </a:extLst>
          </p:cNvPr>
          <p:cNvSpPr>
            <a:spLocks noGrp="1"/>
          </p:cNvSpPr>
          <p:nvPr>
            <p:ph type="title"/>
          </p:nvPr>
        </p:nvSpPr>
        <p:spPr>
          <a:xfrm>
            <a:off x="797761" y="204412"/>
            <a:ext cx="10911840" cy="1325563"/>
          </a:xfrm>
        </p:spPr>
        <p:txBody>
          <a:bodyPr>
            <a:normAutofit/>
          </a:bodyPr>
          <a:lstStyle/>
          <a:p>
            <a:r>
              <a:rPr lang="en-US" sz="3600" dirty="0">
                <a:latin typeface="Arial" panose="020B0604020202020204" pitchFamily="34" charset="0"/>
                <a:cs typeface="Arial" panose="020B0604020202020204" pitchFamily="34" charset="0"/>
              </a:rPr>
              <a:t>Motion Control and Computer Vision Application in Autonomous, Programmable Robots</a:t>
            </a:r>
          </a:p>
        </p:txBody>
      </p:sp>
      <p:pic>
        <p:nvPicPr>
          <p:cNvPr id="6" name="图片 1">
            <a:extLst>
              <a:ext uri="{FF2B5EF4-FFF2-40B4-BE49-F238E27FC236}">
                <a16:creationId xmlns:a16="http://schemas.microsoft.com/office/drawing/2014/main" id="{6C9B5A93-76A0-80CF-6521-9B81C1C7C9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107" y="1375508"/>
            <a:ext cx="7093264" cy="3233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1">
            <a:extLst>
              <a:ext uri="{FF2B5EF4-FFF2-40B4-BE49-F238E27FC236}">
                <a16:creationId xmlns:a16="http://schemas.microsoft.com/office/drawing/2014/main" id="{3D02CF93-DCCA-675D-DBD0-086261A01C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3261" y="3585556"/>
            <a:ext cx="6836493" cy="2957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2787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B8797-5CB7-F897-0EA6-298D05797510}"/>
              </a:ext>
            </a:extLst>
          </p:cNvPr>
          <p:cNvSpPr>
            <a:spLocks noGrp="1"/>
          </p:cNvSpPr>
          <p:nvPr>
            <p:ph type="title"/>
          </p:nvPr>
        </p:nvSpPr>
        <p:spPr>
          <a:xfrm>
            <a:off x="766156" y="248747"/>
            <a:ext cx="10515600" cy="959370"/>
          </a:xfrm>
        </p:spPr>
        <p:txBody>
          <a:bodyPr/>
          <a:lstStyle/>
          <a:p>
            <a:r>
              <a:rPr lang="en-US" sz="3600" dirty="0">
                <a:latin typeface="Arial" panose="020B0604020202020204" pitchFamily="34" charset="0"/>
                <a:cs typeface="Arial" panose="020B0604020202020204" pitchFamily="34" charset="0"/>
              </a:rPr>
              <a:t>Robot Golfing Competition</a:t>
            </a:r>
          </a:p>
        </p:txBody>
      </p:sp>
      <p:sp>
        <p:nvSpPr>
          <p:cNvPr id="4" name="TextBox 3">
            <a:extLst>
              <a:ext uri="{FF2B5EF4-FFF2-40B4-BE49-F238E27FC236}">
                <a16:creationId xmlns:a16="http://schemas.microsoft.com/office/drawing/2014/main" id="{B20BAE16-28A7-CCDA-F588-EB3CF8A6E06B}"/>
              </a:ext>
            </a:extLst>
          </p:cNvPr>
          <p:cNvSpPr txBox="1"/>
          <p:nvPr/>
        </p:nvSpPr>
        <p:spPr>
          <a:xfrm>
            <a:off x="766156" y="1208117"/>
            <a:ext cx="10988040" cy="461665"/>
          </a:xfrm>
          <a:prstGeom prst="rect">
            <a:avLst/>
          </a:prstGeom>
          <a:noFill/>
        </p:spPr>
        <p:txBody>
          <a:bodyPr wrap="square" rtlCol="0">
            <a:spAutoFit/>
          </a:bodyPr>
          <a:lstStyle/>
          <a:p>
            <a:r>
              <a:rPr lang="en-US" sz="2400" dirty="0"/>
              <a:t>Nao is an autonomous, programmable humanoid robot. </a:t>
            </a:r>
          </a:p>
        </p:txBody>
      </p:sp>
      <p:pic>
        <p:nvPicPr>
          <p:cNvPr id="6" name="Picture 5" descr="A robot on a table&#10;&#10;Description automatically generated">
            <a:extLst>
              <a:ext uri="{FF2B5EF4-FFF2-40B4-BE49-F238E27FC236}">
                <a16:creationId xmlns:a16="http://schemas.microsoft.com/office/drawing/2014/main" id="{245FAB84-8192-CC4F-C3C2-F243DAB38A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836" y="1669782"/>
            <a:ext cx="3620883" cy="4824153"/>
          </a:xfrm>
          <a:prstGeom prst="rect">
            <a:avLst/>
          </a:prstGeom>
        </p:spPr>
      </p:pic>
      <p:sp>
        <p:nvSpPr>
          <p:cNvPr id="7" name="TextBox 6">
            <a:extLst>
              <a:ext uri="{FF2B5EF4-FFF2-40B4-BE49-F238E27FC236}">
                <a16:creationId xmlns:a16="http://schemas.microsoft.com/office/drawing/2014/main" id="{97AA6B79-3414-75E0-E667-2F6C064C421D}"/>
              </a:ext>
            </a:extLst>
          </p:cNvPr>
          <p:cNvSpPr txBox="1"/>
          <p:nvPr/>
        </p:nvSpPr>
        <p:spPr>
          <a:xfrm>
            <a:off x="4821382" y="1751989"/>
            <a:ext cx="6694516" cy="4708981"/>
          </a:xfrm>
          <a:prstGeom prst="rect">
            <a:avLst/>
          </a:prstGeom>
          <a:noFill/>
        </p:spPr>
        <p:txBody>
          <a:bodyPr wrap="square" rtlCol="0">
            <a:spAutoFit/>
          </a:bodyPr>
          <a:lstStyle/>
          <a:p>
            <a:r>
              <a:rPr lang="en-US" sz="2400" dirty="0"/>
              <a:t>The main two challenges of Nao golfing control are the golfing motion control and the situation awareness for information such as golf ball, real-time competition instructions, </a:t>
            </a:r>
            <a:r>
              <a:rPr lang="en-US" sz="2400" dirty="0" err="1"/>
              <a:t>etc</a:t>
            </a:r>
            <a:r>
              <a:rPr lang="en-US" sz="2400" dirty="0"/>
              <a:t> in an adaptive environment.</a:t>
            </a:r>
          </a:p>
          <a:p>
            <a:endParaRPr lang="en-US" sz="2400" dirty="0"/>
          </a:p>
          <a:p>
            <a:r>
              <a:rPr lang="en-US" sz="2400" dirty="0"/>
              <a:t>Thus, I developed a closed-loop feedback control using Force-sensitive Resistor (FSR) for controlling the coordinates of the hitting, and a robot’s computer vision system for recognizing the red golf ball and optical characters.</a:t>
            </a:r>
          </a:p>
          <a:p>
            <a:endParaRPr lang="en-US" dirty="0"/>
          </a:p>
          <a:p>
            <a:endParaRPr lang="en-US" dirty="0"/>
          </a:p>
        </p:txBody>
      </p:sp>
    </p:spTree>
    <p:extLst>
      <p:ext uri="{BB962C8B-B14F-4D97-AF65-F5344CB8AC3E}">
        <p14:creationId xmlns:p14="http://schemas.microsoft.com/office/powerpoint/2010/main" val="1858226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officeArt object">
            <a:extLst>
              <a:ext uri="{FF2B5EF4-FFF2-40B4-BE49-F238E27FC236}">
                <a16:creationId xmlns:a16="http://schemas.microsoft.com/office/drawing/2014/main" id="{5A75A55C-B4FA-2689-4871-C794F5146CE5}"/>
              </a:ext>
            </a:extLst>
          </p:cNvPr>
          <p:cNvPicPr/>
          <p:nvPr/>
        </p:nvPicPr>
        <p:blipFill>
          <a:blip r:embed="rId2"/>
          <a:stretch>
            <a:fillRect/>
          </a:stretch>
        </p:blipFill>
        <p:spPr>
          <a:xfrm>
            <a:off x="4208708" y="1313049"/>
            <a:ext cx="3646486" cy="4281690"/>
          </a:xfrm>
          <a:prstGeom prst="rect">
            <a:avLst/>
          </a:prstGeom>
          <a:ln w="12700" cap="flat">
            <a:noFill/>
            <a:miter lim="400000"/>
          </a:ln>
          <a:effectLst/>
        </p:spPr>
      </p:pic>
      <p:sp>
        <p:nvSpPr>
          <p:cNvPr id="4" name="TextBox 3">
            <a:extLst>
              <a:ext uri="{FF2B5EF4-FFF2-40B4-BE49-F238E27FC236}">
                <a16:creationId xmlns:a16="http://schemas.microsoft.com/office/drawing/2014/main" id="{4178D0DE-8AC2-F5E0-D79A-9C04E9FFC2DE}"/>
              </a:ext>
            </a:extLst>
          </p:cNvPr>
          <p:cNvSpPr txBox="1"/>
          <p:nvPr/>
        </p:nvSpPr>
        <p:spPr>
          <a:xfrm>
            <a:off x="688570" y="406180"/>
            <a:ext cx="80970120" cy="523220"/>
          </a:xfrm>
          <a:prstGeom prst="rect">
            <a:avLst/>
          </a:prstGeom>
          <a:noFill/>
        </p:spPr>
        <p:txBody>
          <a:bodyPr wrap="square" rtlCol="0">
            <a:spAutoFit/>
          </a:bodyPr>
          <a:lstStyle/>
          <a:p>
            <a:r>
              <a:rPr lang="en-US" sz="2800" dirty="0">
                <a:latin typeface="Arial" panose="020B0604020202020204" pitchFamily="34" charset="0"/>
                <a:ea typeface="+mj-ea"/>
                <a:cs typeface="Arial" panose="020B0604020202020204" pitchFamily="34" charset="0"/>
              </a:rPr>
              <a:t>Closed-loop feedback control using Force-sensitive Resistor (FSR)</a:t>
            </a:r>
          </a:p>
        </p:txBody>
      </p:sp>
      <p:sp>
        <p:nvSpPr>
          <p:cNvPr id="11" name="TextBox 10">
            <a:extLst>
              <a:ext uri="{FF2B5EF4-FFF2-40B4-BE49-F238E27FC236}">
                <a16:creationId xmlns:a16="http://schemas.microsoft.com/office/drawing/2014/main" id="{571B0F92-B909-BCAA-DC93-E8996F69FD47}"/>
              </a:ext>
            </a:extLst>
          </p:cNvPr>
          <p:cNvSpPr txBox="1"/>
          <p:nvPr/>
        </p:nvSpPr>
        <p:spPr>
          <a:xfrm>
            <a:off x="6411883" y="1137637"/>
            <a:ext cx="5026429" cy="2308324"/>
          </a:xfrm>
          <a:prstGeom prst="rect">
            <a:avLst/>
          </a:prstGeom>
          <a:noFill/>
        </p:spPr>
        <p:txBody>
          <a:bodyPr wrap="square" rtlCol="0">
            <a:spAutoFit/>
          </a:bodyPr>
          <a:lstStyle/>
          <a:p>
            <a:r>
              <a:rPr lang="en-US" sz="2400" dirty="0"/>
              <a:t>Principle: find the robotic I/O layout of analog, GND and 5V  (as power). Connect FSR from 5V output, in serial to 10K resistor, then ground. Having analog (ADC) trace the voltage.</a:t>
            </a:r>
          </a:p>
        </p:txBody>
      </p:sp>
      <p:sp>
        <p:nvSpPr>
          <p:cNvPr id="12" name="TextBox 11">
            <a:extLst>
              <a:ext uri="{FF2B5EF4-FFF2-40B4-BE49-F238E27FC236}">
                <a16:creationId xmlns:a16="http://schemas.microsoft.com/office/drawing/2014/main" id="{94282B0E-8C47-FCEB-292D-BEF572DDC531}"/>
              </a:ext>
            </a:extLst>
          </p:cNvPr>
          <p:cNvSpPr txBox="1"/>
          <p:nvPr/>
        </p:nvSpPr>
        <p:spPr>
          <a:xfrm>
            <a:off x="6411883" y="3453894"/>
            <a:ext cx="5181600" cy="3323987"/>
          </a:xfrm>
          <a:prstGeom prst="rect">
            <a:avLst/>
          </a:prstGeom>
          <a:noFill/>
        </p:spPr>
        <p:txBody>
          <a:bodyPr wrap="square" rtlCol="0">
            <a:spAutoFit/>
          </a:bodyPr>
          <a:lstStyle/>
          <a:p>
            <a:r>
              <a:rPr lang="en-US" sz="2400" dirty="0"/>
              <a:t>By developing and implementing the circuit and Nao’s Arduino data logger, I could record FSR voltages at regular intervals, thus having pressure information at self-defined sampling rate, to control and adjust the coordinates of the robotic arm hitting the golf ball.</a:t>
            </a:r>
          </a:p>
          <a:p>
            <a:endParaRPr lang="en-US" dirty="0"/>
          </a:p>
        </p:txBody>
      </p:sp>
      <p:pic>
        <p:nvPicPr>
          <p:cNvPr id="14" name="Picture 13">
            <a:extLst>
              <a:ext uri="{FF2B5EF4-FFF2-40B4-BE49-F238E27FC236}">
                <a16:creationId xmlns:a16="http://schemas.microsoft.com/office/drawing/2014/main" id="{4C396606-3EF5-CC90-10A6-46DCF50C2E57}"/>
              </a:ext>
            </a:extLst>
          </p:cNvPr>
          <p:cNvPicPr>
            <a:picLocks noChangeAspect="1"/>
          </p:cNvPicPr>
          <p:nvPr/>
        </p:nvPicPr>
        <p:blipFill>
          <a:blip r:embed="rId3"/>
          <a:stretch>
            <a:fillRect/>
          </a:stretch>
        </p:blipFill>
        <p:spPr>
          <a:xfrm>
            <a:off x="381304" y="1313049"/>
            <a:ext cx="3646486" cy="4117932"/>
          </a:xfrm>
          <a:prstGeom prst="rect">
            <a:avLst/>
          </a:prstGeom>
        </p:spPr>
      </p:pic>
    </p:spTree>
    <p:extLst>
      <p:ext uri="{BB962C8B-B14F-4D97-AF65-F5344CB8AC3E}">
        <p14:creationId xmlns:p14="http://schemas.microsoft.com/office/powerpoint/2010/main" val="3821200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221C6-D12B-9BCE-04ED-8683F88B412A}"/>
              </a:ext>
            </a:extLst>
          </p:cNvPr>
          <p:cNvSpPr>
            <a:spLocks noGrp="1"/>
          </p:cNvSpPr>
          <p:nvPr>
            <p:ph type="title"/>
          </p:nvPr>
        </p:nvSpPr>
        <p:spPr>
          <a:xfrm>
            <a:off x="893618" y="301106"/>
            <a:ext cx="10515600" cy="657630"/>
          </a:xfrm>
        </p:spPr>
        <p:txBody>
          <a:bodyPr>
            <a:normAutofit fontScale="90000"/>
          </a:bodyPr>
          <a:lstStyle/>
          <a:p>
            <a:r>
              <a:rPr lang="en-US" sz="2800" dirty="0">
                <a:latin typeface="Arial" panose="020B0604020202020204" pitchFamily="34" charset="0"/>
                <a:cs typeface="Arial" panose="020B0604020202020204" pitchFamily="34" charset="0"/>
              </a:rPr>
              <a:t>Correlation between the coordinates and the Force (Voltage/Resistance)</a:t>
            </a:r>
          </a:p>
        </p:txBody>
      </p:sp>
      <p:sp>
        <p:nvSpPr>
          <p:cNvPr id="3" name="Content Placeholder 2">
            <a:extLst>
              <a:ext uri="{FF2B5EF4-FFF2-40B4-BE49-F238E27FC236}">
                <a16:creationId xmlns:a16="http://schemas.microsoft.com/office/drawing/2014/main" id="{10E367ED-1CED-AD13-BE5E-FF4EA43BB02C}"/>
              </a:ext>
            </a:extLst>
          </p:cNvPr>
          <p:cNvSpPr>
            <a:spLocks noGrp="1"/>
          </p:cNvSpPr>
          <p:nvPr>
            <p:ph idx="1"/>
          </p:nvPr>
        </p:nvSpPr>
        <p:spPr>
          <a:xfrm>
            <a:off x="727364" y="1293610"/>
            <a:ext cx="10515600" cy="4351338"/>
          </a:xfrm>
        </p:spPr>
        <p:txBody>
          <a:bodyPr/>
          <a:lstStyle/>
          <a:p>
            <a:r>
              <a:rPr lang="en-US" sz="2400" dirty="0"/>
              <a:t>Voltage – pressure</a:t>
            </a:r>
          </a:p>
          <a:p>
            <a:r>
              <a:rPr lang="en-US" sz="2400" dirty="0"/>
              <a:t>We transfer pressure to a corresponding visible parameter – coordinate. We have </a:t>
            </a:r>
            <a:r>
              <a:rPr lang="en-US" sz="2400" dirty="0" err="1"/>
              <a:t>x,y,z</a:t>
            </a:r>
            <a:r>
              <a:rPr lang="en-US" sz="2400" dirty="0"/>
              <a:t> 3D coordinate in this application. We can break down the coordinates each direction. For simplicity, we take x-direction for demonstration, so we can control x coordinate to control the pressure applied when playing golf.</a:t>
            </a:r>
          </a:p>
          <a:p>
            <a:endParaRPr lang="en-US" dirty="0"/>
          </a:p>
        </p:txBody>
      </p:sp>
    </p:spTree>
    <p:extLst>
      <p:ext uri="{BB962C8B-B14F-4D97-AF65-F5344CB8AC3E}">
        <p14:creationId xmlns:p14="http://schemas.microsoft.com/office/powerpoint/2010/main" val="1919141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fficeArt object">
            <a:extLst>
              <a:ext uri="{FF2B5EF4-FFF2-40B4-BE49-F238E27FC236}">
                <a16:creationId xmlns:a16="http://schemas.microsoft.com/office/drawing/2014/main" id="{E5CA809D-CC2F-E759-190F-DD0E1399885B}"/>
              </a:ext>
            </a:extLst>
          </p:cNvPr>
          <p:cNvPicPr/>
          <p:nvPr/>
        </p:nvPicPr>
        <p:blipFill>
          <a:blip r:embed="rId2"/>
          <a:stretch>
            <a:fillRect/>
          </a:stretch>
        </p:blipFill>
        <p:spPr>
          <a:xfrm>
            <a:off x="4985386" y="2118157"/>
            <a:ext cx="6793749" cy="4371312"/>
          </a:xfrm>
          <a:prstGeom prst="rect">
            <a:avLst/>
          </a:prstGeom>
          <a:ln w="12700" cap="flat">
            <a:noFill/>
            <a:miter lim="400000"/>
          </a:ln>
          <a:effectLst/>
        </p:spPr>
      </p:pic>
      <p:sp>
        <p:nvSpPr>
          <p:cNvPr id="2" name="Title 1">
            <a:extLst>
              <a:ext uri="{FF2B5EF4-FFF2-40B4-BE49-F238E27FC236}">
                <a16:creationId xmlns:a16="http://schemas.microsoft.com/office/drawing/2014/main" id="{7939EADE-C35A-4678-3EAE-7F33622FB68D}"/>
              </a:ext>
            </a:extLst>
          </p:cNvPr>
          <p:cNvSpPr>
            <a:spLocks noGrp="1"/>
          </p:cNvSpPr>
          <p:nvPr>
            <p:ph type="title"/>
          </p:nvPr>
        </p:nvSpPr>
        <p:spPr>
          <a:xfrm>
            <a:off x="490451" y="293081"/>
            <a:ext cx="9617825" cy="765406"/>
          </a:xfrm>
        </p:spPr>
        <p:txBody>
          <a:bodyPr/>
          <a:lstStyle/>
          <a:p>
            <a:r>
              <a:rPr lang="en-US" sz="2800" dirty="0">
                <a:latin typeface="Arial" panose="020B0604020202020204" pitchFamily="34" charset="0"/>
                <a:cs typeface="Arial" panose="020B0604020202020204" pitchFamily="34" charset="0"/>
              </a:rPr>
              <a:t>Measurement and Data Logging of the Output Voltage</a:t>
            </a:r>
          </a:p>
        </p:txBody>
      </p:sp>
      <p:sp>
        <p:nvSpPr>
          <p:cNvPr id="3" name="Content Placeholder 2">
            <a:extLst>
              <a:ext uri="{FF2B5EF4-FFF2-40B4-BE49-F238E27FC236}">
                <a16:creationId xmlns:a16="http://schemas.microsoft.com/office/drawing/2014/main" id="{2623BEE7-7EF4-BC32-1D23-96F7021BDDED}"/>
              </a:ext>
            </a:extLst>
          </p:cNvPr>
          <p:cNvSpPr>
            <a:spLocks noGrp="1"/>
          </p:cNvSpPr>
          <p:nvPr>
            <p:ph idx="1"/>
          </p:nvPr>
        </p:nvSpPr>
        <p:spPr>
          <a:xfrm>
            <a:off x="545869" y="1058487"/>
            <a:ext cx="10515600" cy="1152264"/>
          </a:xfrm>
        </p:spPr>
        <p:txBody>
          <a:bodyPr/>
          <a:lstStyle/>
          <a:p>
            <a:pPr marL="0" indent="0">
              <a:buNone/>
            </a:pPr>
            <a:r>
              <a:rPr lang="en-US" sz="2400" dirty="0"/>
              <a:t>The analog ADC input to Arduino Uno board of Nao for voltage reading. I used the same Arduino Uno board as in the robotic system, and wrote the </a:t>
            </a:r>
            <a:r>
              <a:rPr lang="en-US" sz="2400" dirty="0" err="1"/>
              <a:t>Matlab</a:t>
            </a:r>
            <a:r>
              <a:rPr lang="en-US" sz="2400" dirty="0"/>
              <a:t> script to plot and analyze the relative ADC counts (y-axis) </a:t>
            </a:r>
            <a:r>
              <a:rPr lang="en-US" sz="2400" dirty="0" err="1"/>
              <a:t>wrt</a:t>
            </a:r>
            <a:r>
              <a:rPr lang="en-US" sz="2400" dirty="0"/>
              <a:t> time (x-axis/</a:t>
            </a:r>
            <a:r>
              <a:rPr lang="en-US" sz="2400" dirty="0" err="1"/>
              <a:t>ms</a:t>
            </a:r>
            <a:r>
              <a:rPr lang="en-US" sz="2400" dirty="0"/>
              <a:t>):</a:t>
            </a:r>
          </a:p>
        </p:txBody>
      </p:sp>
      <p:sp>
        <p:nvSpPr>
          <p:cNvPr id="5" name="TextBox 4">
            <a:extLst>
              <a:ext uri="{FF2B5EF4-FFF2-40B4-BE49-F238E27FC236}">
                <a16:creationId xmlns:a16="http://schemas.microsoft.com/office/drawing/2014/main" id="{9210881E-D3DF-DF22-324F-831A0BB2DCB3}"/>
              </a:ext>
            </a:extLst>
          </p:cNvPr>
          <p:cNvSpPr txBox="1"/>
          <p:nvPr/>
        </p:nvSpPr>
        <p:spPr>
          <a:xfrm>
            <a:off x="288175" y="2421774"/>
            <a:ext cx="5109556" cy="3093154"/>
          </a:xfrm>
          <a:prstGeom prst="rect">
            <a:avLst/>
          </a:prstGeom>
          <a:noFill/>
        </p:spPr>
        <p:txBody>
          <a:bodyPr wrap="square" rtlCol="0">
            <a:spAutoFit/>
          </a:bodyPr>
          <a:lstStyle/>
          <a:p>
            <a:pPr marL="0" marR="0" indent="304800">
              <a:lnSpc>
                <a:spcPts val="1800"/>
              </a:lnSpc>
              <a:spcBef>
                <a:spcPts val="0"/>
              </a:spcBef>
              <a:spcAft>
                <a:spcPts val="0"/>
              </a:spcAft>
            </a:pPr>
            <a:r>
              <a:rPr lang="en-US" sz="1800" i="1" dirty="0">
                <a:solidFill>
                  <a:srgbClr val="000000"/>
                </a:solidFill>
                <a:effectLst/>
                <a:latin typeface="Helvetica" panose="020B0604020202020204" pitchFamily="34" charset="0"/>
                <a:ea typeface="Arial Unicode MS"/>
                <a:cs typeface="Arial Unicode MS"/>
              </a:rPr>
              <a:t>a=</a:t>
            </a:r>
            <a:r>
              <a:rPr lang="en-US" sz="1800" i="1" dirty="0" err="1">
                <a:solidFill>
                  <a:srgbClr val="000000"/>
                </a:solidFill>
                <a:effectLst/>
                <a:latin typeface="Helvetica" panose="020B0604020202020204" pitchFamily="34" charset="0"/>
                <a:ea typeface="Arial Unicode MS"/>
                <a:cs typeface="Arial Unicode MS"/>
              </a:rPr>
              <a:t>arduino</a:t>
            </a:r>
            <a:r>
              <a:rPr lang="en-US" sz="1800" i="1" dirty="0">
                <a:solidFill>
                  <a:srgbClr val="000000"/>
                </a:solidFill>
                <a:effectLst/>
                <a:latin typeface="Helvetica" panose="020B0604020202020204" pitchFamily="34" charset="0"/>
                <a:ea typeface="Arial Unicode MS"/>
                <a:cs typeface="Arial Unicode MS"/>
              </a:rPr>
              <a:t>('/dev/cu.wchusbserial1420','uno');</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en-US" sz="1800" i="1" dirty="0">
                <a:solidFill>
                  <a:srgbClr val="000000"/>
                </a:solidFill>
                <a:effectLst/>
                <a:latin typeface="Helvetica" panose="020B0604020202020204" pitchFamily="34" charset="0"/>
                <a:ea typeface="Arial Unicode MS"/>
                <a:cs typeface="Arial Unicode MS"/>
              </a:rPr>
              <a:t>interval=10000;</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pt-PT" sz="1800" i="1" dirty="0">
                <a:solidFill>
                  <a:srgbClr val="000000"/>
                </a:solidFill>
                <a:effectLst/>
                <a:latin typeface="Helvetica" panose="020B0604020202020204" pitchFamily="34" charset="0"/>
                <a:ea typeface="Arial Unicode MS"/>
                <a:cs typeface="Arial Unicode MS"/>
              </a:rPr>
              <a:t>passo=0.05;</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pt-PT" sz="1800" i="1" dirty="0">
                <a:solidFill>
                  <a:srgbClr val="000000"/>
                </a:solidFill>
                <a:effectLst/>
                <a:latin typeface="Helvetica" panose="020B0604020202020204" pitchFamily="34" charset="0"/>
                <a:ea typeface="Arial Unicode MS"/>
                <a:cs typeface="Arial Unicode MS"/>
              </a:rPr>
              <a:t>x=[];</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en-US" sz="1800" i="1" dirty="0">
                <a:solidFill>
                  <a:srgbClr val="000000"/>
                </a:solidFill>
                <a:effectLst/>
                <a:latin typeface="Helvetica" panose="020B0604020202020204" pitchFamily="34" charset="0"/>
                <a:ea typeface="Arial Unicode MS"/>
                <a:cs typeface="Arial Unicode MS"/>
              </a:rPr>
              <a:t>t=1;</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en-US" sz="1800" i="1" dirty="0">
                <a:solidFill>
                  <a:srgbClr val="000000"/>
                </a:solidFill>
                <a:effectLst/>
                <a:latin typeface="Helvetica" panose="020B0604020202020204" pitchFamily="34" charset="0"/>
                <a:ea typeface="Arial Unicode MS"/>
                <a:cs typeface="Arial Unicode MS"/>
              </a:rPr>
              <a:t>while (t&lt;interval)</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it-IT" sz="1800" i="1" dirty="0">
                <a:solidFill>
                  <a:srgbClr val="000000"/>
                </a:solidFill>
                <a:effectLst/>
                <a:latin typeface="Helvetica" panose="020B0604020202020204" pitchFamily="34" charset="0"/>
                <a:ea typeface="Arial Unicode MS"/>
                <a:cs typeface="Arial Unicode MS"/>
              </a:rPr>
              <a:t>    b=readVoltage(a,'A0');</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en-US" sz="1800" i="1" dirty="0">
                <a:solidFill>
                  <a:srgbClr val="000000"/>
                </a:solidFill>
                <a:effectLst/>
                <a:latin typeface="Helvetica" panose="020B0604020202020204" pitchFamily="34" charset="0"/>
                <a:ea typeface="Arial Unicode MS"/>
                <a:cs typeface="Arial Unicode MS"/>
              </a:rPr>
              <a:t>    x=[</a:t>
            </a:r>
            <a:r>
              <a:rPr lang="en-US" sz="1800" i="1" dirty="0" err="1">
                <a:solidFill>
                  <a:srgbClr val="000000"/>
                </a:solidFill>
                <a:effectLst/>
                <a:latin typeface="Helvetica" panose="020B0604020202020204" pitchFamily="34" charset="0"/>
                <a:ea typeface="Arial Unicode MS"/>
                <a:cs typeface="Arial Unicode MS"/>
              </a:rPr>
              <a:t>x,b</a:t>
            </a:r>
            <a:r>
              <a:rPr lang="en-US" sz="1800" i="1" dirty="0">
                <a:solidFill>
                  <a:srgbClr val="000000"/>
                </a:solidFill>
                <a:effectLst/>
                <a:latin typeface="Helvetica" panose="020B0604020202020204" pitchFamily="34" charset="0"/>
                <a:ea typeface="Arial Unicode MS"/>
                <a:cs typeface="Arial Unicode MS"/>
              </a:rPr>
              <a:t>];</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en-US" sz="1800" i="1" dirty="0">
                <a:solidFill>
                  <a:srgbClr val="000000"/>
                </a:solidFill>
                <a:effectLst/>
                <a:latin typeface="Helvetica" panose="020B0604020202020204" pitchFamily="34" charset="0"/>
                <a:ea typeface="Arial Unicode MS"/>
                <a:cs typeface="Arial Unicode MS"/>
              </a:rPr>
              <a:t>    plot(x);</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en-US" sz="1800" i="1" dirty="0">
                <a:solidFill>
                  <a:srgbClr val="000000"/>
                </a:solidFill>
                <a:effectLst/>
                <a:latin typeface="Helvetica" panose="020B0604020202020204" pitchFamily="34" charset="0"/>
                <a:ea typeface="Arial Unicode MS"/>
                <a:cs typeface="Arial Unicode MS"/>
              </a:rPr>
              <a:t>    </a:t>
            </a:r>
            <a:r>
              <a:rPr lang="fr-FR" sz="1800" i="1" dirty="0" err="1">
                <a:solidFill>
                  <a:srgbClr val="000000"/>
                </a:solidFill>
                <a:effectLst/>
                <a:latin typeface="Helvetica" panose="020B0604020202020204" pitchFamily="34" charset="0"/>
                <a:ea typeface="Arial Unicode MS"/>
                <a:cs typeface="Arial Unicode MS"/>
              </a:rPr>
              <a:t>grid</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it-IT" sz="1800" i="1" dirty="0">
                <a:solidFill>
                  <a:srgbClr val="000000"/>
                </a:solidFill>
                <a:effectLst/>
                <a:latin typeface="Helvetica" panose="020B0604020202020204" pitchFamily="34" charset="0"/>
                <a:ea typeface="Arial Unicode MS"/>
                <a:cs typeface="Arial Unicode MS"/>
              </a:rPr>
              <a:t>    t=t+passo;</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fr-FR" sz="1800" i="1" dirty="0">
                <a:solidFill>
                  <a:srgbClr val="000000"/>
                </a:solidFill>
                <a:effectLst/>
                <a:latin typeface="Helvetica" panose="020B0604020202020204" pitchFamily="34" charset="0"/>
                <a:ea typeface="Arial Unicode MS"/>
                <a:cs typeface="Arial Unicode MS"/>
              </a:rPr>
              <a:t>    </a:t>
            </a:r>
            <a:r>
              <a:rPr lang="fr-FR" sz="1800" i="1" dirty="0" err="1">
                <a:solidFill>
                  <a:srgbClr val="000000"/>
                </a:solidFill>
                <a:effectLst/>
                <a:latin typeface="Helvetica" panose="020B0604020202020204" pitchFamily="34" charset="0"/>
                <a:ea typeface="Arial Unicode MS"/>
                <a:cs typeface="Arial Unicode MS"/>
              </a:rPr>
              <a:t>drawnow</a:t>
            </a:r>
            <a:r>
              <a:rPr lang="fr-FR" sz="1800" i="1" dirty="0">
                <a:solidFill>
                  <a:srgbClr val="000000"/>
                </a:solidFill>
                <a:effectLst/>
                <a:latin typeface="Helvetica" panose="020B0604020202020204" pitchFamily="34" charset="0"/>
                <a:ea typeface="Arial Unicode MS"/>
                <a:cs typeface="Arial Unicode MS"/>
              </a:rPr>
              <a:t>;</a:t>
            </a:r>
            <a:endParaRPr lang="en-US" sz="1800" dirty="0">
              <a:solidFill>
                <a:srgbClr val="000000"/>
              </a:solidFill>
              <a:effectLst/>
              <a:latin typeface="Helvetica" panose="020B0604020202020204" pitchFamily="34" charset="0"/>
              <a:ea typeface="Arial Unicode MS"/>
              <a:cs typeface="Arial Unicode MS"/>
            </a:endParaRPr>
          </a:p>
          <a:p>
            <a:pPr marL="0" marR="0" indent="304800">
              <a:lnSpc>
                <a:spcPts val="1800"/>
              </a:lnSpc>
              <a:spcBef>
                <a:spcPts val="0"/>
              </a:spcBef>
              <a:spcAft>
                <a:spcPts val="0"/>
              </a:spcAft>
            </a:pPr>
            <a:r>
              <a:rPr lang="en-US" sz="1800" i="1" dirty="0">
                <a:solidFill>
                  <a:srgbClr val="000000"/>
                </a:solidFill>
                <a:effectLst/>
                <a:latin typeface="Helvetica" panose="020B0604020202020204" pitchFamily="34" charset="0"/>
                <a:ea typeface="Arial Unicode MS"/>
                <a:cs typeface="Arial Unicode MS"/>
              </a:rPr>
              <a:t>end</a:t>
            </a:r>
            <a:endParaRPr lang="en-US" sz="1800" dirty="0">
              <a:solidFill>
                <a:srgbClr val="000000"/>
              </a:solidFill>
              <a:effectLst/>
              <a:latin typeface="Helvetica" panose="020B0604020202020204" pitchFamily="34" charset="0"/>
              <a:ea typeface="Arial Unicode MS"/>
              <a:cs typeface="Arial Unicode MS"/>
            </a:endParaRPr>
          </a:p>
        </p:txBody>
      </p:sp>
      <p:sp>
        <p:nvSpPr>
          <p:cNvPr id="10" name="Content Placeholder 2">
            <a:extLst>
              <a:ext uri="{FF2B5EF4-FFF2-40B4-BE49-F238E27FC236}">
                <a16:creationId xmlns:a16="http://schemas.microsoft.com/office/drawing/2014/main" id="{3817DC95-A070-3F49-BDE1-652A2CCDFF21}"/>
              </a:ext>
            </a:extLst>
          </p:cNvPr>
          <p:cNvSpPr txBox="1">
            <a:spLocks/>
          </p:cNvSpPr>
          <p:nvPr/>
        </p:nvSpPr>
        <p:spPr>
          <a:xfrm>
            <a:off x="356062" y="5679796"/>
            <a:ext cx="5274425" cy="779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By setting </a:t>
            </a:r>
            <a:r>
              <a:rPr lang="en-US" sz="2400" dirty="0" err="1"/>
              <a:t>passo</a:t>
            </a:r>
            <a:r>
              <a:rPr lang="en-US" sz="2400" dirty="0"/>
              <a:t> value, I could manage the interval of the sampling. </a:t>
            </a:r>
          </a:p>
        </p:txBody>
      </p:sp>
    </p:spTree>
    <p:extLst>
      <p:ext uri="{BB962C8B-B14F-4D97-AF65-F5344CB8AC3E}">
        <p14:creationId xmlns:p14="http://schemas.microsoft.com/office/powerpoint/2010/main" val="1698402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ABD7C-DE8A-1E22-0A69-1A89A68F04C3}"/>
              </a:ext>
            </a:extLst>
          </p:cNvPr>
          <p:cNvSpPr>
            <a:spLocks noGrp="1"/>
          </p:cNvSpPr>
          <p:nvPr>
            <p:ph type="title"/>
          </p:nvPr>
        </p:nvSpPr>
        <p:spPr>
          <a:xfrm>
            <a:off x="245224" y="54783"/>
            <a:ext cx="10782994" cy="793115"/>
          </a:xfrm>
        </p:spPr>
        <p:txBody>
          <a:bodyPr/>
          <a:lstStyle/>
          <a:p>
            <a:r>
              <a:rPr lang="en-US" sz="2500" dirty="0">
                <a:latin typeface="Arial" panose="020B0604020202020204" pitchFamily="34" charset="0"/>
                <a:cs typeface="Arial" panose="020B0604020202020204" pitchFamily="34" charset="0"/>
              </a:rPr>
              <a:t>Voltage Control over Arduino’s Serial Communication</a:t>
            </a:r>
          </a:p>
        </p:txBody>
      </p:sp>
      <p:sp>
        <p:nvSpPr>
          <p:cNvPr id="9" name="TextBox 8">
            <a:extLst>
              <a:ext uri="{FF2B5EF4-FFF2-40B4-BE49-F238E27FC236}">
                <a16:creationId xmlns:a16="http://schemas.microsoft.com/office/drawing/2014/main" id="{B6E43B7C-BBD6-D9A6-D350-8C757CAA79BF}"/>
              </a:ext>
            </a:extLst>
          </p:cNvPr>
          <p:cNvSpPr txBox="1"/>
          <p:nvPr/>
        </p:nvSpPr>
        <p:spPr>
          <a:xfrm>
            <a:off x="0" y="725978"/>
            <a:ext cx="7339100" cy="6370975"/>
          </a:xfrm>
          <a:prstGeom prst="rect">
            <a:avLst/>
          </a:prstGeom>
          <a:noFill/>
        </p:spPr>
        <p:txBody>
          <a:bodyPr wrap="square" rtlCol="0">
            <a:spAutoFit/>
          </a:bodyPr>
          <a:lstStyle/>
          <a:p>
            <a:pPr indent="304800">
              <a:lnSpc>
                <a:spcPts val="1800"/>
              </a:lnSpc>
            </a:pPr>
            <a:r>
              <a:rPr lang="en-US" i="1" dirty="0">
                <a:solidFill>
                  <a:srgbClr val="000000"/>
                </a:solidFill>
                <a:latin typeface="Helvetica" panose="020B0604020202020204" pitchFamily="34" charset="0"/>
              </a:rPr>
              <a:t>int </a:t>
            </a:r>
            <a:r>
              <a:rPr lang="en-US" i="1" dirty="0" err="1">
                <a:solidFill>
                  <a:srgbClr val="000000"/>
                </a:solidFill>
                <a:latin typeface="Helvetica" panose="020B0604020202020204" pitchFamily="34" charset="0"/>
              </a:rPr>
              <a:t>fsrPin</a:t>
            </a:r>
            <a:r>
              <a:rPr lang="en-US" i="1" dirty="0">
                <a:solidFill>
                  <a:srgbClr val="000000"/>
                </a:solidFill>
                <a:latin typeface="Helvetica" panose="020B0604020202020204" pitchFamily="34" charset="0"/>
              </a:rPr>
              <a:t> = 0;     // the FSR and 10K pulldown are connected to a0</a:t>
            </a:r>
          </a:p>
          <a:p>
            <a:pPr indent="304800">
              <a:lnSpc>
                <a:spcPts val="1800"/>
              </a:lnSpc>
            </a:pPr>
            <a:r>
              <a:rPr lang="en-US" i="1" dirty="0">
                <a:solidFill>
                  <a:srgbClr val="000000"/>
                </a:solidFill>
                <a:latin typeface="Helvetica" panose="020B0604020202020204" pitchFamily="34" charset="0"/>
              </a:rPr>
              <a:t>int </a:t>
            </a:r>
            <a:r>
              <a:rPr lang="en-US" i="1" dirty="0" err="1">
                <a:solidFill>
                  <a:srgbClr val="000000"/>
                </a:solidFill>
                <a:latin typeface="Helvetica" panose="020B0604020202020204" pitchFamily="34" charset="0"/>
              </a:rPr>
              <a:t>fsrReading</a:t>
            </a:r>
            <a:r>
              <a:rPr lang="en-US" i="1" dirty="0">
                <a:solidFill>
                  <a:srgbClr val="000000"/>
                </a:solidFill>
                <a:latin typeface="Helvetica" panose="020B0604020202020204" pitchFamily="34" charset="0"/>
              </a:rPr>
              <a:t>;     // the analog reading from the FSR resistor divider</a:t>
            </a:r>
          </a:p>
          <a:p>
            <a:pPr indent="304800">
              <a:lnSpc>
                <a:spcPts val="1800"/>
              </a:lnSpc>
            </a:pPr>
            <a:r>
              <a:rPr lang="en-US" i="1" dirty="0">
                <a:solidFill>
                  <a:srgbClr val="000000"/>
                </a:solidFill>
                <a:latin typeface="Helvetica" panose="020B0604020202020204" pitchFamily="34" charset="0"/>
              </a:rPr>
              <a:t> </a:t>
            </a:r>
          </a:p>
          <a:p>
            <a:pPr indent="304800">
              <a:lnSpc>
                <a:spcPts val="1800"/>
              </a:lnSpc>
            </a:pPr>
            <a:r>
              <a:rPr lang="en-US" i="1" dirty="0">
                <a:solidFill>
                  <a:srgbClr val="000000"/>
                </a:solidFill>
                <a:latin typeface="Helvetica" panose="020B0604020202020204" pitchFamily="34" charset="0"/>
              </a:rPr>
              <a:t>void setup(void) {</a:t>
            </a:r>
          </a:p>
          <a:p>
            <a:pPr indent="304800">
              <a:lnSpc>
                <a:spcPts val="1800"/>
              </a:lnSpc>
            </a:pPr>
            <a:r>
              <a:rPr lang="en-US" i="1" dirty="0">
                <a:solidFill>
                  <a:srgbClr val="000000"/>
                </a:solidFill>
                <a:latin typeface="Helvetica" panose="020B0604020202020204" pitchFamily="34" charset="0"/>
              </a:rPr>
              <a:t>  </a:t>
            </a:r>
            <a:r>
              <a:rPr lang="en-US" i="1" dirty="0" err="1">
                <a:solidFill>
                  <a:srgbClr val="000000"/>
                </a:solidFill>
                <a:latin typeface="Helvetica" panose="020B0604020202020204" pitchFamily="34" charset="0"/>
              </a:rPr>
              <a:t>Serial.begin</a:t>
            </a:r>
            <a:r>
              <a:rPr lang="en-US" i="1" dirty="0">
                <a:solidFill>
                  <a:srgbClr val="000000"/>
                </a:solidFill>
                <a:latin typeface="Helvetica" panose="020B0604020202020204" pitchFamily="34" charset="0"/>
              </a:rPr>
              <a:t>(9600);   </a:t>
            </a:r>
          </a:p>
          <a:p>
            <a:pPr indent="304800">
              <a:lnSpc>
                <a:spcPts val="1800"/>
              </a:lnSpc>
            </a:pPr>
            <a:r>
              <a:rPr lang="en-US" i="1" dirty="0">
                <a:solidFill>
                  <a:srgbClr val="000000"/>
                </a:solidFill>
                <a:latin typeface="Helvetica" panose="020B0604020202020204" pitchFamily="34" charset="0"/>
              </a:rPr>
              <a:t>}</a:t>
            </a:r>
          </a:p>
          <a:p>
            <a:pPr indent="304800">
              <a:lnSpc>
                <a:spcPts val="1800"/>
              </a:lnSpc>
            </a:pPr>
            <a:r>
              <a:rPr lang="en-US" i="1" dirty="0">
                <a:solidFill>
                  <a:srgbClr val="000000"/>
                </a:solidFill>
                <a:latin typeface="Helvetica" panose="020B0604020202020204" pitchFamily="34" charset="0"/>
              </a:rPr>
              <a:t>void loop(void) {</a:t>
            </a:r>
          </a:p>
          <a:p>
            <a:pPr indent="304800">
              <a:lnSpc>
                <a:spcPts val="1800"/>
              </a:lnSpc>
            </a:pPr>
            <a:r>
              <a:rPr lang="en-US" i="1" dirty="0">
                <a:solidFill>
                  <a:srgbClr val="000000"/>
                </a:solidFill>
                <a:latin typeface="Helvetica" panose="020B0604020202020204" pitchFamily="34" charset="0"/>
              </a:rPr>
              <a:t>  </a:t>
            </a:r>
            <a:r>
              <a:rPr lang="en-US" i="1" dirty="0" err="1">
                <a:solidFill>
                  <a:srgbClr val="000000"/>
                </a:solidFill>
                <a:latin typeface="Helvetica" panose="020B0604020202020204" pitchFamily="34" charset="0"/>
              </a:rPr>
              <a:t>fsrReading</a:t>
            </a:r>
            <a:r>
              <a:rPr lang="en-US" i="1" dirty="0">
                <a:solidFill>
                  <a:srgbClr val="000000"/>
                </a:solidFill>
                <a:latin typeface="Helvetica" panose="020B0604020202020204" pitchFamily="34" charset="0"/>
              </a:rPr>
              <a:t> = </a:t>
            </a:r>
            <a:r>
              <a:rPr lang="en-US" i="1" dirty="0" err="1">
                <a:solidFill>
                  <a:srgbClr val="000000"/>
                </a:solidFill>
                <a:latin typeface="Helvetica" panose="020B0604020202020204" pitchFamily="34" charset="0"/>
              </a:rPr>
              <a:t>analogRead</a:t>
            </a:r>
            <a:r>
              <a:rPr lang="en-US" i="1" dirty="0">
                <a:solidFill>
                  <a:srgbClr val="000000"/>
                </a:solidFill>
                <a:latin typeface="Helvetica" panose="020B0604020202020204" pitchFamily="34" charset="0"/>
              </a:rPr>
              <a:t>(</a:t>
            </a:r>
            <a:r>
              <a:rPr lang="en-US" i="1" dirty="0" err="1">
                <a:solidFill>
                  <a:srgbClr val="000000"/>
                </a:solidFill>
                <a:latin typeface="Helvetica" panose="020B0604020202020204" pitchFamily="34" charset="0"/>
              </a:rPr>
              <a:t>fsrPin</a:t>
            </a:r>
            <a:r>
              <a:rPr lang="en-US" i="1" dirty="0">
                <a:solidFill>
                  <a:srgbClr val="000000"/>
                </a:solidFill>
                <a:latin typeface="Helvetica" panose="020B0604020202020204" pitchFamily="34" charset="0"/>
              </a:rPr>
              <a:t>);  </a:t>
            </a:r>
          </a:p>
          <a:p>
            <a:pPr indent="304800">
              <a:lnSpc>
                <a:spcPts val="1800"/>
              </a:lnSpc>
            </a:pPr>
            <a:r>
              <a:rPr lang="en-US" i="1" dirty="0">
                <a:solidFill>
                  <a:srgbClr val="000000"/>
                </a:solidFill>
                <a:latin typeface="Helvetica" panose="020B0604020202020204" pitchFamily="34" charset="0"/>
              </a:rPr>
              <a:t> </a:t>
            </a:r>
          </a:p>
          <a:p>
            <a:pPr indent="304800">
              <a:lnSpc>
                <a:spcPts val="1800"/>
              </a:lnSpc>
            </a:pPr>
            <a:r>
              <a:rPr lang="en-US" i="1" dirty="0">
                <a:solidFill>
                  <a:srgbClr val="000000"/>
                </a:solidFill>
                <a:latin typeface="Helvetica" panose="020B0604020202020204" pitchFamily="34" charset="0"/>
              </a:rPr>
              <a:t>  </a:t>
            </a:r>
            <a:r>
              <a:rPr lang="en-US" i="1" dirty="0" err="1">
                <a:solidFill>
                  <a:srgbClr val="000000"/>
                </a:solidFill>
                <a:latin typeface="Helvetica" panose="020B0604020202020204" pitchFamily="34" charset="0"/>
              </a:rPr>
              <a:t>Serial.print</a:t>
            </a:r>
            <a:r>
              <a:rPr lang="en-US" i="1" dirty="0">
                <a:solidFill>
                  <a:srgbClr val="000000"/>
                </a:solidFill>
                <a:latin typeface="Helvetica" panose="020B0604020202020204" pitchFamily="34" charset="0"/>
              </a:rPr>
              <a:t>("Analog reading = ");</a:t>
            </a:r>
          </a:p>
          <a:p>
            <a:pPr indent="304800">
              <a:lnSpc>
                <a:spcPts val="1800"/>
              </a:lnSpc>
            </a:pPr>
            <a:r>
              <a:rPr lang="en-US" i="1" dirty="0">
                <a:solidFill>
                  <a:srgbClr val="000000"/>
                </a:solidFill>
                <a:latin typeface="Helvetica" panose="020B0604020202020204" pitchFamily="34" charset="0"/>
              </a:rPr>
              <a:t>  </a:t>
            </a:r>
            <a:r>
              <a:rPr lang="en-US" i="1" dirty="0" err="1">
                <a:solidFill>
                  <a:srgbClr val="000000"/>
                </a:solidFill>
                <a:latin typeface="Helvetica" panose="020B0604020202020204" pitchFamily="34" charset="0"/>
              </a:rPr>
              <a:t>Serial.print</a:t>
            </a:r>
            <a:r>
              <a:rPr lang="en-US" i="1" dirty="0">
                <a:solidFill>
                  <a:srgbClr val="000000"/>
                </a:solidFill>
                <a:latin typeface="Helvetica" panose="020B0604020202020204" pitchFamily="34" charset="0"/>
              </a:rPr>
              <a:t>(</a:t>
            </a:r>
            <a:r>
              <a:rPr lang="en-US" i="1" dirty="0" err="1">
                <a:solidFill>
                  <a:srgbClr val="000000"/>
                </a:solidFill>
                <a:latin typeface="Helvetica" panose="020B0604020202020204" pitchFamily="34" charset="0"/>
              </a:rPr>
              <a:t>fsrReading</a:t>
            </a:r>
            <a:r>
              <a:rPr lang="en-US" i="1" dirty="0">
                <a:solidFill>
                  <a:srgbClr val="000000"/>
                </a:solidFill>
                <a:latin typeface="Helvetica" panose="020B0604020202020204" pitchFamily="34" charset="0"/>
              </a:rPr>
              <a:t>);     // the raw analog reading</a:t>
            </a:r>
          </a:p>
          <a:p>
            <a:pPr indent="304800">
              <a:lnSpc>
                <a:spcPts val="1800"/>
              </a:lnSpc>
            </a:pPr>
            <a:r>
              <a:rPr lang="en-US" i="1" dirty="0">
                <a:solidFill>
                  <a:srgbClr val="000000"/>
                </a:solidFill>
                <a:latin typeface="Helvetica" panose="020B0604020202020204" pitchFamily="34" charset="0"/>
              </a:rPr>
              <a:t> </a:t>
            </a:r>
            <a:r>
              <a:rPr lang="en-US" i="1" dirty="0" err="1">
                <a:solidFill>
                  <a:srgbClr val="000000"/>
                </a:solidFill>
                <a:latin typeface="Helvetica" panose="020B0604020202020204" pitchFamily="34" charset="0"/>
              </a:rPr>
              <a:t>Serial.println</a:t>
            </a:r>
            <a:r>
              <a:rPr lang="en-US" i="1" dirty="0">
                <a:solidFill>
                  <a:srgbClr val="000000"/>
                </a:solidFill>
                <a:latin typeface="Helvetica" panose="020B0604020202020204" pitchFamily="34" charset="0"/>
              </a:rPr>
              <a:t>(" - No pressure");</a:t>
            </a:r>
          </a:p>
          <a:p>
            <a:pPr indent="304800">
              <a:lnSpc>
                <a:spcPts val="1800"/>
              </a:lnSpc>
            </a:pPr>
            <a:r>
              <a:rPr lang="en-US" i="1" dirty="0">
                <a:solidFill>
                  <a:srgbClr val="000000"/>
                </a:solidFill>
                <a:latin typeface="Helvetica" panose="020B0604020202020204" pitchFamily="34" charset="0"/>
              </a:rPr>
              <a:t> /*</a:t>
            </a:r>
          </a:p>
          <a:p>
            <a:pPr indent="304800">
              <a:lnSpc>
                <a:spcPts val="1800"/>
              </a:lnSpc>
            </a:pPr>
            <a:r>
              <a:rPr lang="en-US" i="1" dirty="0">
                <a:solidFill>
                  <a:srgbClr val="000000"/>
                </a:solidFill>
                <a:latin typeface="Helvetica" panose="020B0604020202020204" pitchFamily="34" charset="0"/>
              </a:rPr>
              <a:t>  if (</a:t>
            </a:r>
            <a:r>
              <a:rPr lang="en-US" i="1" dirty="0" err="1">
                <a:solidFill>
                  <a:srgbClr val="000000"/>
                </a:solidFill>
                <a:latin typeface="Helvetica" panose="020B0604020202020204" pitchFamily="34" charset="0"/>
              </a:rPr>
              <a:t>fsrReading</a:t>
            </a:r>
            <a:r>
              <a:rPr lang="en-US" i="1" dirty="0">
                <a:solidFill>
                  <a:srgbClr val="000000"/>
                </a:solidFill>
                <a:latin typeface="Helvetica" panose="020B0604020202020204" pitchFamily="34" charset="0"/>
              </a:rPr>
              <a:t> == 0) {</a:t>
            </a:r>
          </a:p>
          <a:p>
            <a:pPr indent="304800">
              <a:lnSpc>
                <a:spcPts val="1800"/>
              </a:lnSpc>
            </a:pPr>
            <a:r>
              <a:rPr lang="en-US" i="1" dirty="0">
                <a:solidFill>
                  <a:srgbClr val="000000"/>
                </a:solidFill>
                <a:latin typeface="Helvetica" panose="020B0604020202020204" pitchFamily="34" charset="0"/>
              </a:rPr>
              <a:t>    </a:t>
            </a:r>
            <a:r>
              <a:rPr lang="en-US" i="1" dirty="0" err="1">
                <a:solidFill>
                  <a:srgbClr val="000000"/>
                </a:solidFill>
                <a:latin typeface="Helvetica" panose="020B0604020202020204" pitchFamily="34" charset="0"/>
              </a:rPr>
              <a:t>Serial.println</a:t>
            </a:r>
            <a:r>
              <a:rPr lang="en-US" i="1" dirty="0">
                <a:solidFill>
                  <a:srgbClr val="000000"/>
                </a:solidFill>
                <a:latin typeface="Helvetica" panose="020B0604020202020204" pitchFamily="34" charset="0"/>
              </a:rPr>
              <a:t>(" - No pressure");</a:t>
            </a:r>
          </a:p>
          <a:p>
            <a:pPr indent="304800">
              <a:lnSpc>
                <a:spcPts val="1800"/>
              </a:lnSpc>
            </a:pPr>
            <a:r>
              <a:rPr lang="en-US" i="1" dirty="0">
                <a:solidFill>
                  <a:srgbClr val="000000"/>
                </a:solidFill>
                <a:latin typeface="Helvetica" panose="020B0604020202020204" pitchFamily="34" charset="0"/>
              </a:rPr>
              <a:t>  } else if (</a:t>
            </a:r>
            <a:r>
              <a:rPr lang="en-US" i="1" dirty="0" err="1">
                <a:solidFill>
                  <a:srgbClr val="000000"/>
                </a:solidFill>
                <a:latin typeface="Helvetica" panose="020B0604020202020204" pitchFamily="34" charset="0"/>
              </a:rPr>
              <a:t>fsrReading</a:t>
            </a:r>
            <a:r>
              <a:rPr lang="en-US" i="1" dirty="0">
                <a:solidFill>
                  <a:srgbClr val="000000"/>
                </a:solidFill>
                <a:latin typeface="Helvetica" panose="020B0604020202020204" pitchFamily="34" charset="0"/>
              </a:rPr>
              <a:t> &lt; 10) {</a:t>
            </a:r>
          </a:p>
          <a:p>
            <a:pPr indent="304800">
              <a:lnSpc>
                <a:spcPts val="1800"/>
              </a:lnSpc>
            </a:pPr>
            <a:r>
              <a:rPr lang="en-US" i="1" dirty="0">
                <a:solidFill>
                  <a:srgbClr val="000000"/>
                </a:solidFill>
                <a:latin typeface="Helvetica" panose="020B0604020202020204" pitchFamily="34" charset="0"/>
              </a:rPr>
              <a:t>    </a:t>
            </a:r>
            <a:r>
              <a:rPr lang="en-US" i="1" dirty="0" err="1">
                <a:solidFill>
                  <a:srgbClr val="000000"/>
                </a:solidFill>
                <a:latin typeface="Helvetica" panose="020B0604020202020204" pitchFamily="34" charset="0"/>
              </a:rPr>
              <a:t>Serial.println</a:t>
            </a:r>
            <a:r>
              <a:rPr lang="en-US" i="1" dirty="0">
                <a:solidFill>
                  <a:srgbClr val="000000"/>
                </a:solidFill>
                <a:latin typeface="Helvetica" panose="020B0604020202020204" pitchFamily="34" charset="0"/>
              </a:rPr>
              <a:t>(" - Light touch");</a:t>
            </a:r>
          </a:p>
          <a:p>
            <a:pPr indent="304800">
              <a:lnSpc>
                <a:spcPts val="1800"/>
              </a:lnSpc>
            </a:pPr>
            <a:r>
              <a:rPr lang="en-US" i="1" dirty="0">
                <a:solidFill>
                  <a:srgbClr val="000000"/>
                </a:solidFill>
                <a:latin typeface="Helvetica" panose="020B0604020202020204" pitchFamily="34" charset="0"/>
              </a:rPr>
              <a:t>  } else if (</a:t>
            </a:r>
            <a:r>
              <a:rPr lang="en-US" i="1" dirty="0" err="1">
                <a:solidFill>
                  <a:srgbClr val="000000"/>
                </a:solidFill>
                <a:latin typeface="Helvetica" panose="020B0604020202020204" pitchFamily="34" charset="0"/>
              </a:rPr>
              <a:t>fsrReading</a:t>
            </a:r>
            <a:r>
              <a:rPr lang="en-US" i="1" dirty="0">
                <a:solidFill>
                  <a:srgbClr val="000000"/>
                </a:solidFill>
                <a:latin typeface="Helvetica" panose="020B0604020202020204" pitchFamily="34" charset="0"/>
              </a:rPr>
              <a:t> &lt; 50) {</a:t>
            </a:r>
          </a:p>
          <a:p>
            <a:pPr indent="304800">
              <a:lnSpc>
                <a:spcPts val="1800"/>
              </a:lnSpc>
            </a:pPr>
            <a:r>
              <a:rPr lang="en-US" i="1" dirty="0">
                <a:solidFill>
                  <a:srgbClr val="000000"/>
                </a:solidFill>
                <a:latin typeface="Helvetica" panose="020B0604020202020204" pitchFamily="34" charset="0"/>
              </a:rPr>
              <a:t>    </a:t>
            </a:r>
            <a:r>
              <a:rPr lang="en-US" i="1" dirty="0" err="1">
                <a:solidFill>
                  <a:srgbClr val="000000"/>
                </a:solidFill>
                <a:latin typeface="Helvetica" panose="020B0604020202020204" pitchFamily="34" charset="0"/>
              </a:rPr>
              <a:t>Serial.println</a:t>
            </a:r>
            <a:r>
              <a:rPr lang="en-US" i="1" dirty="0">
                <a:solidFill>
                  <a:srgbClr val="000000"/>
                </a:solidFill>
                <a:latin typeface="Helvetica" panose="020B0604020202020204" pitchFamily="34" charset="0"/>
              </a:rPr>
              <a:t>(" - Light squeeze");</a:t>
            </a:r>
          </a:p>
          <a:p>
            <a:pPr indent="304800">
              <a:lnSpc>
                <a:spcPts val="1800"/>
              </a:lnSpc>
            </a:pPr>
            <a:r>
              <a:rPr lang="en-US" i="1" dirty="0">
                <a:solidFill>
                  <a:srgbClr val="000000"/>
                </a:solidFill>
                <a:latin typeface="Helvetica" panose="020B0604020202020204" pitchFamily="34" charset="0"/>
              </a:rPr>
              <a:t>  } else if (</a:t>
            </a:r>
            <a:r>
              <a:rPr lang="en-US" i="1" dirty="0" err="1">
                <a:solidFill>
                  <a:srgbClr val="000000"/>
                </a:solidFill>
                <a:latin typeface="Helvetica" panose="020B0604020202020204" pitchFamily="34" charset="0"/>
              </a:rPr>
              <a:t>fsrReading</a:t>
            </a:r>
            <a:r>
              <a:rPr lang="en-US" i="1" dirty="0">
                <a:solidFill>
                  <a:srgbClr val="000000"/>
                </a:solidFill>
                <a:latin typeface="Helvetica" panose="020B0604020202020204" pitchFamily="34" charset="0"/>
              </a:rPr>
              <a:t> &lt; 150) {</a:t>
            </a:r>
          </a:p>
          <a:p>
            <a:pPr indent="304800">
              <a:lnSpc>
                <a:spcPts val="1800"/>
              </a:lnSpc>
            </a:pPr>
            <a:r>
              <a:rPr lang="it-IT" i="1" dirty="0">
                <a:solidFill>
                  <a:srgbClr val="000000"/>
                </a:solidFill>
                <a:latin typeface="Helvetica" panose="020B0604020202020204" pitchFamily="34" charset="0"/>
              </a:rPr>
              <a:t>    Serial.println(" - Medium squeeze");</a:t>
            </a:r>
            <a:endParaRPr lang="en-US" i="1" dirty="0">
              <a:solidFill>
                <a:srgbClr val="000000"/>
              </a:solidFill>
              <a:latin typeface="Helvetica" panose="020B0604020202020204" pitchFamily="34" charset="0"/>
            </a:endParaRPr>
          </a:p>
          <a:p>
            <a:pPr indent="304800">
              <a:lnSpc>
                <a:spcPts val="1800"/>
              </a:lnSpc>
            </a:pPr>
            <a:r>
              <a:rPr lang="en-US" i="1" dirty="0">
                <a:solidFill>
                  <a:srgbClr val="000000"/>
                </a:solidFill>
                <a:latin typeface="Helvetica" panose="020B0604020202020204" pitchFamily="34" charset="0"/>
              </a:rPr>
              <a:t>  } else {</a:t>
            </a:r>
          </a:p>
          <a:p>
            <a:pPr indent="304800">
              <a:lnSpc>
                <a:spcPts val="1800"/>
              </a:lnSpc>
            </a:pPr>
            <a:r>
              <a:rPr lang="it-IT" i="1" dirty="0">
                <a:solidFill>
                  <a:srgbClr val="000000"/>
                </a:solidFill>
                <a:latin typeface="Helvetica" panose="020B0604020202020204" pitchFamily="34" charset="0"/>
              </a:rPr>
              <a:t>    Serial.println(" - Big squeeze");</a:t>
            </a:r>
            <a:endParaRPr lang="en-US" i="1" dirty="0">
              <a:solidFill>
                <a:srgbClr val="000000"/>
              </a:solidFill>
              <a:latin typeface="Helvetica" panose="020B0604020202020204" pitchFamily="34" charset="0"/>
            </a:endParaRPr>
          </a:p>
          <a:p>
            <a:pPr indent="304800">
              <a:lnSpc>
                <a:spcPts val="1800"/>
              </a:lnSpc>
            </a:pPr>
            <a:r>
              <a:rPr lang="en-US" i="1" dirty="0">
                <a:solidFill>
                  <a:srgbClr val="000000"/>
                </a:solidFill>
                <a:latin typeface="Helvetica" panose="020B0604020202020204" pitchFamily="34" charset="0"/>
              </a:rPr>
              <a:t>  }*/</a:t>
            </a:r>
          </a:p>
          <a:p>
            <a:pPr indent="304800">
              <a:lnSpc>
                <a:spcPts val="1800"/>
              </a:lnSpc>
            </a:pPr>
            <a:r>
              <a:rPr lang="en-US" i="1" dirty="0">
                <a:solidFill>
                  <a:srgbClr val="000000"/>
                </a:solidFill>
                <a:latin typeface="Helvetica" panose="020B0604020202020204" pitchFamily="34" charset="0"/>
              </a:rPr>
              <a:t>  delay(10);</a:t>
            </a:r>
          </a:p>
          <a:p>
            <a:pPr indent="304800">
              <a:lnSpc>
                <a:spcPts val="1800"/>
              </a:lnSpc>
            </a:pPr>
            <a:r>
              <a:rPr lang="en-US" i="1" dirty="0">
                <a:solidFill>
                  <a:srgbClr val="000000"/>
                </a:solidFill>
                <a:latin typeface="Helvetica" panose="020B0604020202020204" pitchFamily="34" charset="0"/>
              </a:rPr>
              <a:t>}</a:t>
            </a:r>
          </a:p>
          <a:p>
            <a:endParaRPr lang="en-US" dirty="0"/>
          </a:p>
        </p:txBody>
      </p:sp>
      <p:sp>
        <p:nvSpPr>
          <p:cNvPr id="11" name="TextBox 10">
            <a:extLst>
              <a:ext uri="{FF2B5EF4-FFF2-40B4-BE49-F238E27FC236}">
                <a16:creationId xmlns:a16="http://schemas.microsoft.com/office/drawing/2014/main" id="{55A37157-3B2B-BC69-2213-4097D182A81D}"/>
              </a:ext>
            </a:extLst>
          </p:cNvPr>
          <p:cNvSpPr txBox="1"/>
          <p:nvPr/>
        </p:nvSpPr>
        <p:spPr>
          <a:xfrm>
            <a:off x="7542415" y="847898"/>
            <a:ext cx="4473114" cy="5262979"/>
          </a:xfrm>
          <a:prstGeom prst="rect">
            <a:avLst/>
          </a:prstGeom>
          <a:noFill/>
        </p:spPr>
        <p:txBody>
          <a:bodyPr wrap="square" rtlCol="0">
            <a:spAutoFit/>
          </a:bodyPr>
          <a:lstStyle/>
          <a:p>
            <a:r>
              <a:rPr lang="en-US" sz="2400" dirty="0"/>
              <a:t>In this way, I could break the pressure into 5 categories, then wrote corresponding functions to control the coordinates in my program. </a:t>
            </a:r>
          </a:p>
          <a:p>
            <a:endParaRPr lang="en-US" sz="2400" dirty="0"/>
          </a:p>
          <a:p>
            <a:r>
              <a:rPr lang="en-US" sz="2400" dirty="0"/>
              <a:t>This works well for applications where the emphasis is on fast response time, rather than on the precision.</a:t>
            </a:r>
          </a:p>
          <a:p>
            <a:endParaRPr lang="en-US" sz="2400" dirty="0"/>
          </a:p>
          <a:p>
            <a:r>
              <a:rPr lang="en-US" sz="2400" dirty="0"/>
              <a:t>For precision, we need to use </a:t>
            </a:r>
            <a:r>
              <a:rPr lang="it-IT" sz="2400" i="1" dirty="0">
                <a:solidFill>
                  <a:srgbClr val="000000"/>
                </a:solidFill>
                <a:effectLst/>
                <a:latin typeface="Helvetica" panose="020B0604020202020204" pitchFamily="34" charset="0"/>
                <a:ea typeface="Arial Unicode MS"/>
                <a:cs typeface="Arial Unicode MS"/>
              </a:rPr>
              <a:t>readVoltage</a:t>
            </a:r>
            <a:r>
              <a:rPr lang="en-US" sz="2400" i="1" dirty="0">
                <a:solidFill>
                  <a:srgbClr val="000000"/>
                </a:solidFill>
                <a:latin typeface="Helvetica" panose="020B0604020202020204" pitchFamily="34" charset="0"/>
                <a:ea typeface="Arial Unicode MS"/>
                <a:cs typeface="Arial Unicode MS"/>
              </a:rPr>
              <a:t>(). </a:t>
            </a:r>
            <a:r>
              <a:rPr lang="en-US" sz="2400" dirty="0"/>
              <a:t>The serial communication still holds.</a:t>
            </a:r>
          </a:p>
        </p:txBody>
      </p:sp>
    </p:spTree>
    <p:extLst>
      <p:ext uri="{BB962C8B-B14F-4D97-AF65-F5344CB8AC3E}">
        <p14:creationId xmlns:p14="http://schemas.microsoft.com/office/powerpoint/2010/main" val="2927050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7857C-8F17-B0ED-0472-EC04EAB9EEFF}"/>
              </a:ext>
            </a:extLst>
          </p:cNvPr>
          <p:cNvSpPr>
            <a:spLocks noGrp="1"/>
          </p:cNvSpPr>
          <p:nvPr>
            <p:ph type="title"/>
          </p:nvPr>
        </p:nvSpPr>
        <p:spPr>
          <a:xfrm>
            <a:off x="405938" y="237057"/>
            <a:ext cx="6066905" cy="953827"/>
          </a:xfrm>
        </p:spPr>
        <p:txBody>
          <a:bodyPr/>
          <a:lstStyle/>
          <a:p>
            <a:r>
              <a:rPr lang="en-US" sz="2500" dirty="0">
                <a:latin typeface="Arial" panose="020B0604020202020204" pitchFamily="34" charset="0"/>
                <a:cs typeface="Arial" panose="020B0604020202020204" pitchFamily="34" charset="0"/>
              </a:rPr>
              <a:t>Implementation</a:t>
            </a:r>
            <a:r>
              <a:rPr lang="en-US" dirty="0"/>
              <a:t> </a:t>
            </a:r>
            <a:r>
              <a:rPr lang="en-US" sz="2500" dirty="0">
                <a:latin typeface="Arial" panose="020B0604020202020204" pitchFamily="34" charset="0"/>
                <a:cs typeface="Arial" panose="020B0604020202020204" pitchFamily="34" charset="0"/>
              </a:rPr>
              <a:t>of the Feedback</a:t>
            </a:r>
          </a:p>
        </p:txBody>
      </p:sp>
      <p:sp>
        <p:nvSpPr>
          <p:cNvPr id="3" name="Content Placeholder 2">
            <a:extLst>
              <a:ext uri="{FF2B5EF4-FFF2-40B4-BE49-F238E27FC236}">
                <a16:creationId xmlns:a16="http://schemas.microsoft.com/office/drawing/2014/main" id="{40D0851A-B5FC-7EF5-669F-F13ACC32215C}"/>
              </a:ext>
            </a:extLst>
          </p:cNvPr>
          <p:cNvSpPr>
            <a:spLocks noGrp="1"/>
          </p:cNvSpPr>
          <p:nvPr>
            <p:ph idx="1"/>
          </p:nvPr>
        </p:nvSpPr>
        <p:spPr>
          <a:xfrm>
            <a:off x="405938" y="1447294"/>
            <a:ext cx="10515600" cy="3617928"/>
          </a:xfrm>
        </p:spPr>
        <p:txBody>
          <a:bodyPr/>
          <a:lstStyle/>
          <a:p>
            <a:pPr marL="0" indent="0">
              <a:buNone/>
            </a:pPr>
            <a:r>
              <a:rPr lang="en-US" sz="2400" dirty="0"/>
              <a:t>Interactively, I feedback voltage reading from FSR </a:t>
            </a:r>
            <a:r>
              <a:rPr lang="en-US" sz="2400" dirty="0" err="1"/>
              <a:t>wrt</a:t>
            </a:r>
            <a:r>
              <a:rPr lang="en-US" sz="2400" dirty="0"/>
              <a:t> time to adjust the X-coordinate, in order to control the pressure along x direction of hitting. Combining forces along 3 directions, I achieved a motion control of golfing.</a:t>
            </a:r>
          </a:p>
          <a:p>
            <a:pPr marL="0" indent="0">
              <a:buNone/>
            </a:pPr>
            <a:endParaRPr lang="en-US" sz="2400" dirty="0"/>
          </a:p>
          <a:p>
            <a:pPr marL="0" indent="0">
              <a:buNone/>
            </a:pPr>
            <a:r>
              <a:rPr lang="en-US" sz="2400" dirty="0"/>
              <a:t>The feedback information was implemented through the coordinate to Cartesian control API:</a:t>
            </a:r>
          </a:p>
          <a:p>
            <a:pPr marL="0" indent="0">
              <a:buNone/>
            </a:pPr>
            <a:r>
              <a:rPr lang="en-US" sz="2400" dirty="0"/>
              <a:t>Class </a:t>
            </a:r>
            <a:r>
              <a:rPr lang="en-US" sz="2400" dirty="0" err="1"/>
              <a:t>ALMotionProxy</a:t>
            </a:r>
            <a:endParaRPr lang="en-US" sz="2400" dirty="0"/>
          </a:p>
          <a:p>
            <a:pPr marL="0" indent="0">
              <a:buNone/>
            </a:pPr>
            <a:r>
              <a:rPr lang="en-US" sz="2400" dirty="0"/>
              <a:t>Void </a:t>
            </a:r>
            <a:r>
              <a:rPr lang="en-US" sz="2400" dirty="0" err="1"/>
              <a:t>ALMotionProxy</a:t>
            </a:r>
            <a:r>
              <a:rPr lang="en-US" sz="2400" dirty="0"/>
              <a:t>::</a:t>
            </a:r>
            <a:r>
              <a:rPr lang="en-US" sz="2400" dirty="0" err="1"/>
              <a:t>setPositions</a:t>
            </a:r>
            <a:r>
              <a:rPr lang="en-US" sz="2400" dirty="0"/>
              <a:t>()</a:t>
            </a:r>
          </a:p>
        </p:txBody>
      </p:sp>
    </p:spTree>
    <p:extLst>
      <p:ext uri="{BB962C8B-B14F-4D97-AF65-F5344CB8AC3E}">
        <p14:creationId xmlns:p14="http://schemas.microsoft.com/office/powerpoint/2010/main" val="3435991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B1D5FF0-6A86-CF51-8FA7-4736E7E5BA07}"/>
              </a:ext>
            </a:extLst>
          </p:cNvPr>
          <p:cNvSpPr>
            <a:spLocks noGrp="1"/>
          </p:cNvSpPr>
          <p:nvPr>
            <p:ph type="title"/>
          </p:nvPr>
        </p:nvSpPr>
        <p:spPr>
          <a:xfrm>
            <a:off x="389313" y="309417"/>
            <a:ext cx="10515600" cy="665653"/>
          </a:xfrm>
        </p:spPr>
        <p:txBody>
          <a:bodyPr/>
          <a:lstStyle/>
          <a:p>
            <a:r>
              <a:rPr lang="en-US" sz="2500" dirty="0">
                <a:latin typeface="Arial" panose="020B0604020202020204" pitchFamily="34" charset="0"/>
                <a:cs typeface="Arial" panose="020B0604020202020204" pitchFamily="34" charset="0"/>
              </a:rPr>
              <a:t>Computer Vision Program Architecture for Red Golf Ball Recognition</a:t>
            </a:r>
          </a:p>
        </p:txBody>
      </p:sp>
      <p:sp>
        <p:nvSpPr>
          <p:cNvPr id="5" name="TextBox 4">
            <a:extLst>
              <a:ext uri="{FF2B5EF4-FFF2-40B4-BE49-F238E27FC236}">
                <a16:creationId xmlns:a16="http://schemas.microsoft.com/office/drawing/2014/main" id="{757472B7-D735-A35B-032D-9B5E370009A5}"/>
              </a:ext>
            </a:extLst>
          </p:cNvPr>
          <p:cNvSpPr txBox="1"/>
          <p:nvPr/>
        </p:nvSpPr>
        <p:spPr>
          <a:xfrm>
            <a:off x="2776452" y="1546167"/>
            <a:ext cx="4799214" cy="461665"/>
          </a:xfrm>
          <a:prstGeom prst="rect">
            <a:avLst/>
          </a:prstGeom>
          <a:noFill/>
        </p:spPr>
        <p:txBody>
          <a:bodyPr wrap="square" rtlCol="0">
            <a:spAutoFit/>
          </a:bodyPr>
          <a:lstStyle/>
          <a:p>
            <a:r>
              <a:rPr lang="en-US" sz="2400" dirty="0"/>
              <a:t>Base</a:t>
            </a:r>
            <a:r>
              <a:rPr lang="en-US" dirty="0"/>
              <a:t> </a:t>
            </a:r>
            <a:r>
              <a:rPr lang="en-US" sz="2400" dirty="0"/>
              <a:t>Class: </a:t>
            </a:r>
            <a:r>
              <a:rPr lang="en-US" sz="2400" dirty="0" err="1"/>
              <a:t>ConfigureNao</a:t>
            </a:r>
            <a:r>
              <a:rPr lang="en-US" sz="2400" dirty="0"/>
              <a:t>(object)</a:t>
            </a:r>
          </a:p>
        </p:txBody>
      </p:sp>
      <p:cxnSp>
        <p:nvCxnSpPr>
          <p:cNvPr id="7" name="Straight Arrow Connector 6">
            <a:extLst>
              <a:ext uri="{FF2B5EF4-FFF2-40B4-BE49-F238E27FC236}">
                <a16:creationId xmlns:a16="http://schemas.microsoft.com/office/drawing/2014/main" id="{E5FC65D9-365F-C7F2-7D1A-859A9F180783}"/>
              </a:ext>
            </a:extLst>
          </p:cNvPr>
          <p:cNvCxnSpPr/>
          <p:nvPr/>
        </p:nvCxnSpPr>
        <p:spPr>
          <a:xfrm>
            <a:off x="5043054" y="1941331"/>
            <a:ext cx="0" cy="6262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89A6E3F-2666-837A-F6E4-E33B45F13B21}"/>
              </a:ext>
            </a:extLst>
          </p:cNvPr>
          <p:cNvSpPr txBox="1"/>
          <p:nvPr/>
        </p:nvSpPr>
        <p:spPr>
          <a:xfrm>
            <a:off x="5176059" y="2007832"/>
            <a:ext cx="1485207" cy="461665"/>
          </a:xfrm>
          <a:prstGeom prst="rect">
            <a:avLst/>
          </a:prstGeom>
          <a:noFill/>
        </p:spPr>
        <p:txBody>
          <a:bodyPr wrap="square" rtlCol="0">
            <a:spAutoFit/>
          </a:bodyPr>
          <a:lstStyle/>
          <a:p>
            <a:r>
              <a:rPr lang="en-US" sz="2400" dirty="0"/>
              <a:t>inheriting</a:t>
            </a:r>
          </a:p>
        </p:txBody>
      </p:sp>
      <p:sp>
        <p:nvSpPr>
          <p:cNvPr id="9" name="TextBox 8">
            <a:extLst>
              <a:ext uri="{FF2B5EF4-FFF2-40B4-BE49-F238E27FC236}">
                <a16:creationId xmlns:a16="http://schemas.microsoft.com/office/drawing/2014/main" id="{F8036B5C-5FA5-A5DF-DE20-22F2C47C2271}"/>
              </a:ext>
            </a:extLst>
          </p:cNvPr>
          <p:cNvSpPr txBox="1"/>
          <p:nvPr/>
        </p:nvSpPr>
        <p:spPr>
          <a:xfrm>
            <a:off x="4441766" y="4235909"/>
            <a:ext cx="4544291" cy="461665"/>
          </a:xfrm>
          <a:prstGeom prst="rect">
            <a:avLst/>
          </a:prstGeom>
          <a:noFill/>
        </p:spPr>
        <p:txBody>
          <a:bodyPr wrap="square" rtlCol="0">
            <a:spAutoFit/>
          </a:bodyPr>
          <a:lstStyle/>
          <a:p>
            <a:r>
              <a:rPr lang="en-US" sz="2400" dirty="0" err="1"/>
              <a:t>BallDetect</a:t>
            </a:r>
            <a:r>
              <a:rPr lang="en-US" sz="2400" dirty="0"/>
              <a:t>(</a:t>
            </a:r>
            <a:r>
              <a:rPr lang="en-US" sz="2400" dirty="0" err="1"/>
              <a:t>VisualBasis</a:t>
            </a:r>
            <a:r>
              <a:rPr lang="en-US" sz="2400" dirty="0"/>
              <a:t>)</a:t>
            </a:r>
          </a:p>
        </p:txBody>
      </p:sp>
      <p:sp>
        <p:nvSpPr>
          <p:cNvPr id="10" name="TextBox 9">
            <a:extLst>
              <a:ext uri="{FF2B5EF4-FFF2-40B4-BE49-F238E27FC236}">
                <a16:creationId xmlns:a16="http://schemas.microsoft.com/office/drawing/2014/main" id="{617B7046-0C5A-A5BC-D0AD-CD3EDBA69D42}"/>
              </a:ext>
            </a:extLst>
          </p:cNvPr>
          <p:cNvSpPr txBox="1"/>
          <p:nvPr/>
        </p:nvSpPr>
        <p:spPr>
          <a:xfrm>
            <a:off x="4743797" y="3115710"/>
            <a:ext cx="903316" cy="369332"/>
          </a:xfrm>
          <a:prstGeom prst="rect">
            <a:avLst/>
          </a:prstGeom>
          <a:noFill/>
        </p:spPr>
        <p:txBody>
          <a:bodyPr wrap="square" rtlCol="0">
            <a:spAutoFit/>
          </a:bodyPr>
          <a:lstStyle/>
          <a:p>
            <a:r>
              <a:rPr lang="en-US" dirty="0" err="1"/>
              <a:t>Fcns</a:t>
            </a:r>
            <a:r>
              <a:rPr lang="en-US" dirty="0"/>
              <a:t>…</a:t>
            </a:r>
          </a:p>
        </p:txBody>
      </p:sp>
      <p:cxnSp>
        <p:nvCxnSpPr>
          <p:cNvPr id="11" name="Straight Arrow Connector 10">
            <a:extLst>
              <a:ext uri="{FF2B5EF4-FFF2-40B4-BE49-F238E27FC236}">
                <a16:creationId xmlns:a16="http://schemas.microsoft.com/office/drawing/2014/main" id="{518B2EAE-5B74-C10C-25E3-8F6239DF06DE}"/>
              </a:ext>
            </a:extLst>
          </p:cNvPr>
          <p:cNvCxnSpPr/>
          <p:nvPr/>
        </p:nvCxnSpPr>
        <p:spPr>
          <a:xfrm>
            <a:off x="5043053" y="3688116"/>
            <a:ext cx="0" cy="6262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9B4CB2C0-2FD0-C8BD-2F33-58010A70AB8F}"/>
              </a:ext>
            </a:extLst>
          </p:cNvPr>
          <p:cNvSpPr txBox="1"/>
          <p:nvPr/>
        </p:nvSpPr>
        <p:spPr>
          <a:xfrm>
            <a:off x="5176058" y="3754617"/>
            <a:ext cx="1485207" cy="461665"/>
          </a:xfrm>
          <a:prstGeom prst="rect">
            <a:avLst/>
          </a:prstGeom>
          <a:noFill/>
        </p:spPr>
        <p:txBody>
          <a:bodyPr wrap="square" rtlCol="0">
            <a:spAutoFit/>
          </a:bodyPr>
          <a:lstStyle/>
          <a:p>
            <a:r>
              <a:rPr lang="en-US" sz="2400" dirty="0"/>
              <a:t>inheriting</a:t>
            </a:r>
          </a:p>
        </p:txBody>
      </p:sp>
      <p:sp>
        <p:nvSpPr>
          <p:cNvPr id="13" name="TextBox 12">
            <a:extLst>
              <a:ext uri="{FF2B5EF4-FFF2-40B4-BE49-F238E27FC236}">
                <a16:creationId xmlns:a16="http://schemas.microsoft.com/office/drawing/2014/main" id="{994A7FA6-916B-10F7-2B6D-6591A40175EB}"/>
              </a:ext>
            </a:extLst>
          </p:cNvPr>
          <p:cNvSpPr txBox="1"/>
          <p:nvPr/>
        </p:nvSpPr>
        <p:spPr>
          <a:xfrm>
            <a:off x="4441767" y="2641843"/>
            <a:ext cx="4544291" cy="461665"/>
          </a:xfrm>
          <a:prstGeom prst="rect">
            <a:avLst/>
          </a:prstGeom>
          <a:noFill/>
        </p:spPr>
        <p:txBody>
          <a:bodyPr wrap="square" rtlCol="0">
            <a:spAutoFit/>
          </a:bodyPr>
          <a:lstStyle/>
          <a:p>
            <a:r>
              <a:rPr lang="en-US" sz="2400" dirty="0" err="1"/>
              <a:t>VisualBasis</a:t>
            </a:r>
            <a:r>
              <a:rPr lang="en-US" sz="2400" dirty="0"/>
              <a:t>(</a:t>
            </a:r>
            <a:r>
              <a:rPr lang="en-US" sz="2400" dirty="0" err="1"/>
              <a:t>ConfigureNao</a:t>
            </a:r>
            <a:r>
              <a:rPr lang="en-US" sz="2400" dirty="0"/>
              <a:t>)</a:t>
            </a:r>
          </a:p>
        </p:txBody>
      </p:sp>
      <p:sp>
        <p:nvSpPr>
          <p:cNvPr id="15" name="TextBox 14">
            <a:extLst>
              <a:ext uri="{FF2B5EF4-FFF2-40B4-BE49-F238E27FC236}">
                <a16:creationId xmlns:a16="http://schemas.microsoft.com/office/drawing/2014/main" id="{E22D6BD2-2844-DEC3-9586-29CE8A7ED119}"/>
              </a:ext>
            </a:extLst>
          </p:cNvPr>
          <p:cNvSpPr txBox="1"/>
          <p:nvPr/>
        </p:nvSpPr>
        <p:spPr>
          <a:xfrm>
            <a:off x="4698076" y="4673045"/>
            <a:ext cx="3228108" cy="923330"/>
          </a:xfrm>
          <a:prstGeom prst="rect">
            <a:avLst/>
          </a:prstGeom>
          <a:noFill/>
        </p:spPr>
        <p:txBody>
          <a:bodyPr wrap="square" rtlCol="0">
            <a:spAutoFit/>
          </a:bodyPr>
          <a:lstStyle/>
          <a:p>
            <a:r>
              <a:rPr lang="en-US" dirty="0"/>
              <a:t>Fcn1, </a:t>
            </a:r>
          </a:p>
          <a:p>
            <a:r>
              <a:rPr lang="en-US" dirty="0"/>
              <a:t>Fcn2, </a:t>
            </a:r>
          </a:p>
          <a:p>
            <a:r>
              <a:rPr lang="en-US" dirty="0"/>
              <a:t>Fcn3…</a:t>
            </a:r>
          </a:p>
        </p:txBody>
      </p:sp>
      <p:sp>
        <p:nvSpPr>
          <p:cNvPr id="16" name="TextBox 15">
            <a:extLst>
              <a:ext uri="{FF2B5EF4-FFF2-40B4-BE49-F238E27FC236}">
                <a16:creationId xmlns:a16="http://schemas.microsoft.com/office/drawing/2014/main" id="{72085EDA-7D98-38AB-B45D-94C53B85BD6C}"/>
              </a:ext>
            </a:extLst>
          </p:cNvPr>
          <p:cNvSpPr txBox="1"/>
          <p:nvPr/>
        </p:nvSpPr>
        <p:spPr>
          <a:xfrm>
            <a:off x="6148647" y="3130502"/>
            <a:ext cx="3524596" cy="646331"/>
          </a:xfrm>
          <a:prstGeom prst="rect">
            <a:avLst/>
          </a:prstGeom>
          <a:noFill/>
        </p:spPr>
        <p:txBody>
          <a:bodyPr wrap="square" rtlCol="0">
            <a:spAutoFit/>
          </a:bodyPr>
          <a:lstStyle/>
          <a:p>
            <a:r>
              <a:rPr lang="en-US" dirty="0"/>
              <a:t>getting a frame from the camera, show frame, save frame, etc.</a:t>
            </a:r>
          </a:p>
        </p:txBody>
      </p:sp>
      <p:sp>
        <p:nvSpPr>
          <p:cNvPr id="17" name="TextBox 16">
            <a:extLst>
              <a:ext uri="{FF2B5EF4-FFF2-40B4-BE49-F238E27FC236}">
                <a16:creationId xmlns:a16="http://schemas.microsoft.com/office/drawing/2014/main" id="{38E3BB1C-5EC7-71AE-5CBB-DC631CF524C9}"/>
              </a:ext>
            </a:extLst>
          </p:cNvPr>
          <p:cNvSpPr txBox="1"/>
          <p:nvPr/>
        </p:nvSpPr>
        <p:spPr>
          <a:xfrm>
            <a:off x="6096000" y="4823809"/>
            <a:ext cx="4416828" cy="646331"/>
          </a:xfrm>
          <a:prstGeom prst="rect">
            <a:avLst/>
          </a:prstGeom>
          <a:noFill/>
        </p:spPr>
        <p:txBody>
          <a:bodyPr wrap="square" rtlCol="0">
            <a:spAutoFit/>
          </a:bodyPr>
          <a:lstStyle/>
          <a:p>
            <a:r>
              <a:rPr lang="en-US" dirty="0"/>
              <a:t>RGB Channel Thresholding, image filtering, </a:t>
            </a:r>
            <a:r>
              <a:rPr lang="en-US" dirty="0" err="1"/>
              <a:t>HoughCircle</a:t>
            </a:r>
            <a:r>
              <a:rPr lang="en-US" dirty="0"/>
              <a:t>, etc.</a:t>
            </a:r>
          </a:p>
        </p:txBody>
      </p:sp>
    </p:spTree>
    <p:extLst>
      <p:ext uri="{BB962C8B-B14F-4D97-AF65-F5344CB8AC3E}">
        <p14:creationId xmlns:p14="http://schemas.microsoft.com/office/powerpoint/2010/main" val="3035986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B86D4-96DA-58DA-E4B4-92D718BBFFC8}"/>
              </a:ext>
            </a:extLst>
          </p:cNvPr>
          <p:cNvSpPr>
            <a:spLocks noGrp="1"/>
          </p:cNvSpPr>
          <p:nvPr>
            <p:ph type="title"/>
          </p:nvPr>
        </p:nvSpPr>
        <p:spPr>
          <a:xfrm>
            <a:off x="278477" y="348210"/>
            <a:ext cx="10515600" cy="665653"/>
          </a:xfrm>
        </p:spPr>
        <p:txBody>
          <a:bodyPr/>
          <a:lstStyle/>
          <a:p>
            <a:r>
              <a:rPr lang="en-US" sz="2500" dirty="0">
                <a:latin typeface="Arial" panose="020B0604020202020204" pitchFamily="34" charset="0"/>
                <a:cs typeface="Arial" panose="020B0604020202020204" pitchFamily="34" charset="0"/>
              </a:rPr>
              <a:t>Computer Vision Module for Red Golf Ball Recognition</a:t>
            </a:r>
          </a:p>
        </p:txBody>
      </p:sp>
      <p:pic>
        <p:nvPicPr>
          <p:cNvPr id="7" name="Picture 6" descr="A screenshot of a computer code&#10;&#10;Description automatically generated">
            <a:extLst>
              <a:ext uri="{FF2B5EF4-FFF2-40B4-BE49-F238E27FC236}">
                <a16:creationId xmlns:a16="http://schemas.microsoft.com/office/drawing/2014/main" id="{60F3D810-5340-B7F5-CEA0-8FEEE51FE9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733" y="1866208"/>
            <a:ext cx="7969795" cy="3418118"/>
          </a:xfrm>
          <a:prstGeom prst="rect">
            <a:avLst/>
          </a:prstGeom>
        </p:spPr>
      </p:pic>
      <p:sp>
        <p:nvSpPr>
          <p:cNvPr id="9" name="TextBox 8">
            <a:extLst>
              <a:ext uri="{FF2B5EF4-FFF2-40B4-BE49-F238E27FC236}">
                <a16:creationId xmlns:a16="http://schemas.microsoft.com/office/drawing/2014/main" id="{3EDB2546-50C8-8DB8-6C38-5E14744EC237}"/>
              </a:ext>
            </a:extLst>
          </p:cNvPr>
          <p:cNvSpPr txBox="1"/>
          <p:nvPr/>
        </p:nvSpPr>
        <p:spPr>
          <a:xfrm>
            <a:off x="278477" y="1013863"/>
            <a:ext cx="6483928" cy="461665"/>
          </a:xfrm>
          <a:prstGeom prst="rect">
            <a:avLst/>
          </a:prstGeom>
          <a:noFill/>
        </p:spPr>
        <p:txBody>
          <a:bodyPr wrap="square" rtlCol="0">
            <a:spAutoFit/>
          </a:bodyPr>
          <a:lstStyle/>
          <a:p>
            <a:r>
              <a:rPr lang="en-US" sz="2400" dirty="0"/>
              <a:t>Base class:</a:t>
            </a:r>
            <a:r>
              <a:rPr lang="en-US" dirty="0"/>
              <a:t> </a:t>
            </a:r>
            <a:r>
              <a:rPr lang="en-US" sz="2400" dirty="0" err="1"/>
              <a:t>ConfigureNao</a:t>
            </a:r>
            <a:r>
              <a:rPr lang="en-US" sz="2400" dirty="0"/>
              <a:t>(object)</a:t>
            </a:r>
            <a:r>
              <a:rPr lang="en-US" dirty="0"/>
              <a:t> </a:t>
            </a:r>
          </a:p>
        </p:txBody>
      </p:sp>
    </p:spTree>
    <p:extLst>
      <p:ext uri="{BB962C8B-B14F-4D97-AF65-F5344CB8AC3E}">
        <p14:creationId xmlns:p14="http://schemas.microsoft.com/office/powerpoint/2010/main" val="1774951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D157C-E8C5-D919-F9FB-800EE5717AD7}"/>
              </a:ext>
            </a:extLst>
          </p:cNvPr>
          <p:cNvSpPr>
            <a:spLocks noGrp="1"/>
          </p:cNvSpPr>
          <p:nvPr>
            <p:ph type="title"/>
          </p:nvPr>
        </p:nvSpPr>
        <p:spPr>
          <a:xfrm>
            <a:off x="378229" y="337416"/>
            <a:ext cx="10515600" cy="599151"/>
          </a:xfrm>
        </p:spPr>
        <p:txBody>
          <a:bodyPr/>
          <a:lstStyle/>
          <a:p>
            <a:r>
              <a:rPr lang="en-US" sz="2500" dirty="0" err="1">
                <a:latin typeface="Arial" panose="020B0604020202020204" pitchFamily="34" charset="0"/>
                <a:cs typeface="Arial" panose="020B0604020202020204" pitchFamily="34" charset="0"/>
              </a:rPr>
              <a:t>BallDetect</a:t>
            </a:r>
            <a:r>
              <a:rPr lang="en-US" sz="2500" dirty="0">
                <a:latin typeface="Arial" panose="020B0604020202020204" pitchFamily="34" charset="0"/>
                <a:cs typeface="Arial" panose="020B0604020202020204" pitchFamily="34" charset="0"/>
              </a:rPr>
              <a:t>(</a:t>
            </a:r>
            <a:r>
              <a:rPr lang="en-US" sz="2500" dirty="0" err="1">
                <a:latin typeface="Arial" panose="020B0604020202020204" pitchFamily="34" charset="0"/>
                <a:cs typeface="Arial" panose="020B0604020202020204" pitchFamily="34" charset="0"/>
              </a:rPr>
              <a:t>VisualBasis</a:t>
            </a:r>
            <a:r>
              <a:rPr lang="en-US" sz="2500" dirty="0">
                <a:latin typeface="Arial" panose="020B0604020202020204" pitchFamily="34" charset="0"/>
                <a:cs typeface="Arial" panose="020B0604020202020204" pitchFamily="34" charset="0"/>
              </a:rPr>
              <a:t>)</a:t>
            </a:r>
          </a:p>
        </p:txBody>
      </p:sp>
      <p:sp>
        <p:nvSpPr>
          <p:cNvPr id="3" name="Content Placeholder 2">
            <a:extLst>
              <a:ext uri="{FF2B5EF4-FFF2-40B4-BE49-F238E27FC236}">
                <a16:creationId xmlns:a16="http://schemas.microsoft.com/office/drawing/2014/main" id="{B7C5DD68-65D1-8505-A3C3-36D9936F6A46}"/>
              </a:ext>
            </a:extLst>
          </p:cNvPr>
          <p:cNvSpPr>
            <a:spLocks noGrp="1"/>
          </p:cNvSpPr>
          <p:nvPr>
            <p:ph idx="1"/>
          </p:nvPr>
        </p:nvSpPr>
        <p:spPr>
          <a:xfrm>
            <a:off x="378229" y="1088563"/>
            <a:ext cx="10515600" cy="4351338"/>
          </a:xfrm>
        </p:spPr>
        <p:txBody>
          <a:bodyPr/>
          <a:lstStyle/>
          <a:p>
            <a:r>
              <a:rPr lang="en-US" sz="2400" dirty="0"/>
              <a:t>Inherit from </a:t>
            </a:r>
            <a:r>
              <a:rPr lang="en-US" sz="2400" dirty="0" err="1"/>
              <a:t>VisualBasis</a:t>
            </a:r>
            <a:r>
              <a:rPr lang="en-US" sz="2400" dirty="0"/>
              <a:t> class, we create </a:t>
            </a:r>
            <a:r>
              <a:rPr lang="en-US" sz="2400" dirty="0" err="1"/>
              <a:t>BallDetect</a:t>
            </a:r>
            <a:r>
              <a:rPr lang="en-US" sz="2400" dirty="0"/>
              <a:t> class (Red</a:t>
            </a:r>
            <a:r>
              <a:rPr lang="en-US" sz="2800" dirty="0">
                <a:latin typeface="Arial" panose="020B0604020202020204" pitchFamily="34" charset="0"/>
                <a:cs typeface="Arial" panose="020B0604020202020204" pitchFamily="34" charset="0"/>
              </a:rPr>
              <a:t> </a:t>
            </a:r>
            <a:r>
              <a:rPr lang="en-US" sz="2400" dirty="0"/>
              <a:t>ball detection class)</a:t>
            </a:r>
          </a:p>
          <a:p>
            <a:r>
              <a:rPr lang="en-US" sz="2400" dirty="0"/>
              <a:t>Create _</a:t>
            </a:r>
            <a:r>
              <a:rPr lang="en-US" sz="2400" dirty="0" err="1"/>
              <a:t>ballData</a:t>
            </a:r>
            <a:r>
              <a:rPr lang="en-US" sz="2400" dirty="0"/>
              <a:t> and _</a:t>
            </a:r>
            <a:r>
              <a:rPr lang="en-US" sz="2400" dirty="0" err="1"/>
              <a:t>ballPosition</a:t>
            </a:r>
            <a:r>
              <a:rPr lang="en-US" sz="2400" dirty="0"/>
              <a:t> to store red ball position in the image and actual location</a:t>
            </a:r>
          </a:p>
        </p:txBody>
      </p:sp>
      <p:pic>
        <p:nvPicPr>
          <p:cNvPr id="5" name="Picture 4" descr="A computer code with text&#10;&#10;Description automatically generated">
            <a:extLst>
              <a:ext uri="{FF2B5EF4-FFF2-40B4-BE49-F238E27FC236}">
                <a16:creationId xmlns:a16="http://schemas.microsoft.com/office/drawing/2014/main" id="{CA1AC539-AF09-5956-0A3A-B7A2847C6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773" y="2934696"/>
            <a:ext cx="8016655" cy="2505205"/>
          </a:xfrm>
          <a:prstGeom prst="rect">
            <a:avLst/>
          </a:prstGeom>
        </p:spPr>
      </p:pic>
    </p:spTree>
    <p:extLst>
      <p:ext uri="{BB962C8B-B14F-4D97-AF65-F5344CB8AC3E}">
        <p14:creationId xmlns:p14="http://schemas.microsoft.com/office/powerpoint/2010/main" val="3886677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5A8FA-4D13-4413-7359-027502517B40}"/>
              </a:ext>
            </a:extLst>
          </p:cNvPr>
          <p:cNvSpPr>
            <a:spLocks noGrp="1"/>
          </p:cNvSpPr>
          <p:nvPr>
            <p:ph type="title"/>
          </p:nvPr>
        </p:nvSpPr>
        <p:spPr>
          <a:xfrm>
            <a:off x="339438" y="218628"/>
            <a:ext cx="4287982" cy="948286"/>
          </a:xfrm>
        </p:spPr>
        <p:txBody>
          <a:bodyPr/>
          <a:lstStyle/>
          <a:p>
            <a:r>
              <a:rPr lang="en-US" sz="2500" dirty="0">
                <a:latin typeface="Arial" panose="020B0604020202020204" pitchFamily="34" charset="0"/>
                <a:cs typeface="Arial" panose="020B0604020202020204" pitchFamily="34" charset="0"/>
              </a:rPr>
              <a:t>Image</a:t>
            </a:r>
            <a:r>
              <a:rPr lang="en-US" dirty="0"/>
              <a:t> </a:t>
            </a:r>
            <a:r>
              <a:rPr lang="en-US" sz="2500" dirty="0">
                <a:latin typeface="Arial" panose="020B0604020202020204" pitchFamily="34" charset="0"/>
                <a:cs typeface="Arial" panose="020B0604020202020204" pitchFamily="34" charset="0"/>
              </a:rPr>
              <a:t>Preprocessing</a:t>
            </a:r>
          </a:p>
        </p:txBody>
      </p:sp>
      <p:sp>
        <p:nvSpPr>
          <p:cNvPr id="3" name="Content Placeholder 2">
            <a:extLst>
              <a:ext uri="{FF2B5EF4-FFF2-40B4-BE49-F238E27FC236}">
                <a16:creationId xmlns:a16="http://schemas.microsoft.com/office/drawing/2014/main" id="{467A9071-C069-8B51-E475-B7D5BDF0D899}"/>
              </a:ext>
            </a:extLst>
          </p:cNvPr>
          <p:cNvSpPr>
            <a:spLocks noGrp="1"/>
          </p:cNvSpPr>
          <p:nvPr>
            <p:ph idx="1"/>
          </p:nvPr>
        </p:nvSpPr>
        <p:spPr>
          <a:xfrm>
            <a:off x="400396" y="1110730"/>
            <a:ext cx="10515600" cy="4351338"/>
          </a:xfrm>
        </p:spPr>
        <p:txBody>
          <a:bodyPr/>
          <a:lstStyle/>
          <a:p>
            <a:r>
              <a:rPr lang="en-US" sz="2400" dirty="0"/>
              <a:t>RGB space preprocessing function</a:t>
            </a:r>
          </a:p>
          <a:p>
            <a:r>
              <a:rPr lang="en-US" sz="2400" dirty="0"/>
              <a:t>Define a function to extract red channel and apply Gaussian blur for better </a:t>
            </a:r>
            <a:r>
              <a:rPr lang="en-US" sz="2400" dirty="0" err="1"/>
              <a:t>HoughCircle</a:t>
            </a:r>
            <a:r>
              <a:rPr lang="en-US" sz="2400" dirty="0"/>
              <a:t> detection</a:t>
            </a:r>
          </a:p>
        </p:txBody>
      </p:sp>
      <p:sp>
        <p:nvSpPr>
          <p:cNvPr id="6" name="TextBox 5">
            <a:extLst>
              <a:ext uri="{FF2B5EF4-FFF2-40B4-BE49-F238E27FC236}">
                <a16:creationId xmlns:a16="http://schemas.microsoft.com/office/drawing/2014/main" id="{B83D536C-8F94-C109-0167-C471FEB67DC1}"/>
              </a:ext>
            </a:extLst>
          </p:cNvPr>
          <p:cNvSpPr txBox="1"/>
          <p:nvPr/>
        </p:nvSpPr>
        <p:spPr>
          <a:xfrm>
            <a:off x="598517" y="2444779"/>
            <a:ext cx="9182793" cy="3416320"/>
          </a:xfrm>
          <a:prstGeom prst="rect">
            <a:avLst/>
          </a:prstGeom>
          <a:noFill/>
        </p:spPr>
        <p:txBody>
          <a:bodyPr wrap="square" rtlCol="0">
            <a:spAutoFit/>
          </a:bodyPr>
          <a:lstStyle/>
          <a:p>
            <a:r>
              <a:rPr lang="en-US" dirty="0"/>
              <a:t>def _</a:t>
            </a:r>
            <a:r>
              <a:rPr lang="en-US" dirty="0" err="1"/>
              <a:t>getChannelAndBlur</a:t>
            </a:r>
            <a:r>
              <a:rPr lang="en-US" dirty="0"/>
              <a:t>(self, color):</a:t>
            </a:r>
          </a:p>
          <a:p>
            <a:endParaRPr lang="en-US" dirty="0"/>
          </a:p>
          <a:p>
            <a:r>
              <a:rPr lang="en-US" dirty="0"/>
              <a:t> Hm = 6</a:t>
            </a:r>
          </a:p>
          <a:p>
            <a:r>
              <a:rPr lang="en-US" dirty="0"/>
              <a:t>    if color == "red":</a:t>
            </a:r>
          </a:p>
          <a:p>
            <a:r>
              <a:rPr lang="en-US" dirty="0"/>
              <a:t>        </a:t>
            </a:r>
            <a:r>
              <a:rPr lang="en-US" dirty="0" err="1"/>
              <a:t>channelB</a:t>
            </a:r>
            <a:r>
              <a:rPr lang="en-US" dirty="0"/>
              <a:t> = </a:t>
            </a:r>
            <a:r>
              <a:rPr lang="en-US" dirty="0" err="1"/>
              <a:t>channelB</a:t>
            </a:r>
            <a:r>
              <a:rPr lang="en-US" dirty="0"/>
              <a:t>*0.1*Hm</a:t>
            </a:r>
          </a:p>
          <a:p>
            <a:r>
              <a:rPr lang="en-US" dirty="0"/>
              <a:t>        </a:t>
            </a:r>
            <a:r>
              <a:rPr lang="en-US" dirty="0" err="1"/>
              <a:t>channelG</a:t>
            </a:r>
            <a:r>
              <a:rPr lang="en-US" dirty="0"/>
              <a:t> = </a:t>
            </a:r>
            <a:r>
              <a:rPr lang="en-US" dirty="0" err="1"/>
              <a:t>channelG</a:t>
            </a:r>
            <a:r>
              <a:rPr lang="en-US" dirty="0"/>
              <a:t>*0.1*Hm</a:t>
            </a:r>
          </a:p>
          <a:p>
            <a:r>
              <a:rPr lang="en-US" dirty="0"/>
              <a:t>        </a:t>
            </a:r>
            <a:r>
              <a:rPr lang="en-US" dirty="0" err="1"/>
              <a:t>channelR</a:t>
            </a:r>
            <a:r>
              <a:rPr lang="en-US" dirty="0"/>
              <a:t> = </a:t>
            </a:r>
            <a:r>
              <a:rPr lang="en-US" dirty="0" err="1"/>
              <a:t>channelR</a:t>
            </a:r>
            <a:r>
              <a:rPr lang="en-US" dirty="0"/>
              <a:t> - </a:t>
            </a:r>
            <a:r>
              <a:rPr lang="en-US" dirty="0" err="1"/>
              <a:t>channelB</a:t>
            </a:r>
            <a:r>
              <a:rPr lang="en-US" dirty="0"/>
              <a:t> - </a:t>
            </a:r>
            <a:r>
              <a:rPr lang="en-US" dirty="0" err="1"/>
              <a:t>channelG</a:t>
            </a:r>
            <a:endParaRPr lang="en-US" dirty="0"/>
          </a:p>
          <a:p>
            <a:r>
              <a:rPr lang="en-US" dirty="0"/>
              <a:t>        </a:t>
            </a:r>
            <a:r>
              <a:rPr lang="en-US" dirty="0" err="1"/>
              <a:t>channelR</a:t>
            </a:r>
            <a:r>
              <a:rPr lang="en-US" dirty="0"/>
              <a:t> = 3*</a:t>
            </a:r>
            <a:r>
              <a:rPr lang="en-US" dirty="0" err="1"/>
              <a:t>channelR</a:t>
            </a:r>
            <a:endParaRPr lang="en-US" dirty="0"/>
          </a:p>
          <a:p>
            <a:r>
              <a:rPr lang="en-US" dirty="0"/>
              <a:t>        </a:t>
            </a:r>
            <a:r>
              <a:rPr lang="en-US" dirty="0" err="1"/>
              <a:t>channelR</a:t>
            </a:r>
            <a:r>
              <a:rPr lang="en-US" dirty="0"/>
              <a:t> = cv2.GaussianBlur(</a:t>
            </a:r>
            <a:r>
              <a:rPr lang="en-US" dirty="0" err="1"/>
              <a:t>channelR</a:t>
            </a:r>
            <a:r>
              <a:rPr lang="en-US" dirty="0"/>
              <a:t>, (9,9), 1.5)</a:t>
            </a:r>
          </a:p>
          <a:p>
            <a:r>
              <a:rPr lang="en-US" dirty="0"/>
              <a:t>        </a:t>
            </a:r>
            <a:r>
              <a:rPr lang="en-US" dirty="0" err="1"/>
              <a:t>channelR</a:t>
            </a:r>
            <a:r>
              <a:rPr lang="en-US" dirty="0"/>
              <a:t>[</a:t>
            </a:r>
            <a:r>
              <a:rPr lang="en-US" dirty="0" err="1"/>
              <a:t>channelR</a:t>
            </a:r>
            <a:r>
              <a:rPr lang="en-US" dirty="0"/>
              <a:t>&lt;0] = 0</a:t>
            </a:r>
          </a:p>
          <a:p>
            <a:r>
              <a:rPr lang="en-US" dirty="0"/>
              <a:t>        </a:t>
            </a:r>
            <a:r>
              <a:rPr lang="en-US" dirty="0" err="1"/>
              <a:t>channelR</a:t>
            </a:r>
            <a:r>
              <a:rPr lang="en-US" dirty="0"/>
              <a:t>[</a:t>
            </a:r>
            <a:r>
              <a:rPr lang="en-US" dirty="0" err="1"/>
              <a:t>channelR</a:t>
            </a:r>
            <a:r>
              <a:rPr lang="en-US" dirty="0"/>
              <a:t>&gt;255] = 255</a:t>
            </a:r>
          </a:p>
          <a:p>
            <a:r>
              <a:rPr lang="en-US" dirty="0"/>
              <a:t>        return np.uint8(</a:t>
            </a:r>
            <a:r>
              <a:rPr lang="en-US" dirty="0" err="1"/>
              <a:t>np.round</a:t>
            </a:r>
            <a:r>
              <a:rPr lang="en-US" dirty="0"/>
              <a:t>(</a:t>
            </a:r>
            <a:r>
              <a:rPr lang="en-US" dirty="0" err="1"/>
              <a:t>channelR</a:t>
            </a:r>
            <a:r>
              <a:rPr lang="en-US" dirty="0"/>
              <a:t>))</a:t>
            </a:r>
          </a:p>
        </p:txBody>
      </p:sp>
      <p:sp>
        <p:nvSpPr>
          <p:cNvPr id="10" name="TextBox 9">
            <a:extLst>
              <a:ext uri="{FF2B5EF4-FFF2-40B4-BE49-F238E27FC236}">
                <a16:creationId xmlns:a16="http://schemas.microsoft.com/office/drawing/2014/main" id="{3E967AD8-F21E-EFEF-1E93-CE9A80625926}"/>
              </a:ext>
            </a:extLst>
          </p:cNvPr>
          <p:cNvSpPr txBox="1"/>
          <p:nvPr/>
        </p:nvSpPr>
        <p:spPr>
          <a:xfrm>
            <a:off x="6543502" y="2042151"/>
            <a:ext cx="5248102"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a:t>Renormalize dimensions</a:t>
            </a:r>
          </a:p>
          <a:p>
            <a:pPr marL="342900" indent="-342900">
              <a:buFont typeface="Arial" panose="020B0604020202020204" pitchFamily="34" charset="0"/>
              <a:buChar char="•"/>
            </a:pPr>
            <a:r>
              <a:rPr lang="en-US" sz="2400" dirty="0"/>
              <a:t>Subtract G channel and B channel from R channel</a:t>
            </a:r>
          </a:p>
          <a:p>
            <a:pPr marL="342900" indent="-342900">
              <a:buFont typeface="Arial" panose="020B0604020202020204" pitchFamily="34" charset="0"/>
              <a:buChar char="•"/>
            </a:pPr>
            <a:r>
              <a:rPr lang="en-US" sz="2400" dirty="0"/>
              <a:t>3*</a:t>
            </a:r>
            <a:r>
              <a:rPr lang="en-US" sz="2400" dirty="0" err="1"/>
              <a:t>channelR</a:t>
            </a:r>
            <a:r>
              <a:rPr lang="en-US" sz="2400" dirty="0"/>
              <a:t> amplification for red ball recognition  </a:t>
            </a:r>
          </a:p>
          <a:p>
            <a:r>
              <a:rPr lang="en-US" sz="2400" dirty="0"/>
              <a:t>Arguments:</a:t>
            </a:r>
          </a:p>
          <a:p>
            <a:pPr marL="342900" indent="-342900">
              <a:buFont typeface="Arial" panose="020B0604020202020204" pitchFamily="34" charset="0"/>
              <a:buChar char="•"/>
            </a:pPr>
            <a:r>
              <a:rPr lang="en-US" sz="2400" dirty="0"/>
              <a:t>Color: the color channel to split, only supports the color of red, </a:t>
            </a:r>
            <a:r>
              <a:rPr lang="en-US" sz="2400" dirty="0" err="1"/>
              <a:t>geen</a:t>
            </a:r>
            <a:r>
              <a:rPr lang="en-US" sz="2400" dirty="0"/>
              <a:t> and blue</a:t>
            </a:r>
          </a:p>
          <a:p>
            <a:pPr marL="342900" indent="-342900">
              <a:buFont typeface="Arial" panose="020B0604020202020204" pitchFamily="34" charset="0"/>
              <a:buChar char="•"/>
            </a:pPr>
            <a:r>
              <a:rPr lang="en-US" sz="2400" dirty="0"/>
              <a:t>Return: the specified color channel or None (when the color is not supported)</a:t>
            </a:r>
          </a:p>
        </p:txBody>
      </p:sp>
    </p:spTree>
    <p:extLst>
      <p:ext uri="{BB962C8B-B14F-4D97-AF65-F5344CB8AC3E}">
        <p14:creationId xmlns:p14="http://schemas.microsoft.com/office/powerpoint/2010/main" val="530334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DACD-4C5E-2394-3407-6A94AE110432}"/>
              </a:ext>
            </a:extLst>
          </p:cNvPr>
          <p:cNvSpPr>
            <a:spLocks noGrp="1"/>
          </p:cNvSpPr>
          <p:nvPr>
            <p:ph type="title"/>
          </p:nvPr>
        </p:nvSpPr>
        <p:spPr>
          <a:xfrm>
            <a:off x="411480" y="298624"/>
            <a:ext cx="4066309" cy="826366"/>
          </a:xfrm>
        </p:spPr>
        <p:txBody>
          <a:bodyPr/>
          <a:lstStyle/>
          <a:p>
            <a:r>
              <a:rPr lang="en-US" sz="2500" dirty="0">
                <a:latin typeface="Arial" panose="020B0604020202020204" pitchFamily="34" charset="0"/>
                <a:cs typeface="Arial" panose="020B0604020202020204" pitchFamily="34" charset="0"/>
              </a:rPr>
              <a:t>Find</a:t>
            </a:r>
            <a:r>
              <a:rPr lang="en-US" dirty="0"/>
              <a:t> </a:t>
            </a:r>
            <a:r>
              <a:rPr lang="en-US" sz="2500" dirty="0">
                <a:latin typeface="Arial" panose="020B0604020202020204" pitchFamily="34" charset="0"/>
                <a:cs typeface="Arial" panose="020B0604020202020204" pitchFamily="34" charset="0"/>
              </a:rPr>
              <a:t>Red Golf in the Image</a:t>
            </a:r>
          </a:p>
        </p:txBody>
      </p:sp>
      <p:sp>
        <p:nvSpPr>
          <p:cNvPr id="3" name="Content Placeholder 2">
            <a:extLst>
              <a:ext uri="{FF2B5EF4-FFF2-40B4-BE49-F238E27FC236}">
                <a16:creationId xmlns:a16="http://schemas.microsoft.com/office/drawing/2014/main" id="{535B045F-698B-C3CE-4C48-5B65BD2B9A54}"/>
              </a:ext>
            </a:extLst>
          </p:cNvPr>
          <p:cNvSpPr>
            <a:spLocks noGrp="1"/>
          </p:cNvSpPr>
          <p:nvPr>
            <p:ph idx="1"/>
          </p:nvPr>
        </p:nvSpPr>
        <p:spPr>
          <a:xfrm>
            <a:off x="455814" y="1124990"/>
            <a:ext cx="10515600" cy="4351338"/>
          </a:xfrm>
        </p:spPr>
        <p:txBody>
          <a:bodyPr>
            <a:normAutofit fontScale="55000" lnSpcReduction="20000"/>
          </a:bodyPr>
          <a:lstStyle/>
          <a:p>
            <a:pPr marL="0" indent="0">
              <a:buNone/>
            </a:pPr>
            <a:r>
              <a:rPr lang="en-US" dirty="0"/>
              <a:t>Define _</a:t>
            </a:r>
            <a:r>
              <a:rPr lang="en-US" dirty="0" err="1"/>
              <a:t>findCircles</a:t>
            </a:r>
            <a:r>
              <a:rPr lang="en-US" dirty="0"/>
              <a:t>(self, </a:t>
            </a:r>
            <a:r>
              <a:rPr lang="en-US" dirty="0" err="1"/>
              <a:t>img</a:t>
            </a:r>
            <a:r>
              <a:rPr lang="en-US" dirty="0"/>
              <a:t>, </a:t>
            </a:r>
            <a:r>
              <a:rPr lang="en-US" dirty="0" err="1"/>
              <a:t>minDist</a:t>
            </a:r>
            <a:r>
              <a:rPr lang="en-US" dirty="0"/>
              <a:t>, </a:t>
            </a:r>
            <a:r>
              <a:rPr lang="en-US" dirty="0" err="1"/>
              <a:t>minRadius</a:t>
            </a:r>
            <a:r>
              <a:rPr lang="en-US" dirty="0"/>
              <a:t>, </a:t>
            </a:r>
            <a:r>
              <a:rPr lang="en-US" dirty="0" err="1"/>
              <a:t>maxRadius</a:t>
            </a:r>
            <a:r>
              <a:rPr lang="en-US" dirty="0"/>
              <a:t>):</a:t>
            </a:r>
          </a:p>
          <a:p>
            <a:pPr marL="0" indent="0">
              <a:buNone/>
            </a:pPr>
            <a:r>
              <a:rPr lang="en-US" dirty="0"/>
              <a:t> """ </a:t>
            </a:r>
          </a:p>
          <a:p>
            <a:pPr marL="0" indent="0">
              <a:buNone/>
            </a:pPr>
            <a:r>
              <a:rPr lang="en-US" dirty="0"/>
              <a:t>Arguments:</a:t>
            </a:r>
          </a:p>
          <a:p>
            <a:pPr marL="0" indent="0">
              <a:buNone/>
            </a:pPr>
            <a:r>
              <a:rPr lang="en-US" dirty="0"/>
              <a:t>        </a:t>
            </a:r>
            <a:r>
              <a:rPr lang="en-US" dirty="0" err="1"/>
              <a:t>img</a:t>
            </a:r>
            <a:r>
              <a:rPr lang="en-US" dirty="0"/>
              <a:t>: image to be detected.</a:t>
            </a:r>
          </a:p>
          <a:p>
            <a:pPr marL="0" indent="0">
              <a:buNone/>
            </a:pPr>
            <a:r>
              <a:rPr lang="en-US" dirty="0"/>
              <a:t>        </a:t>
            </a:r>
            <a:r>
              <a:rPr lang="en-US" dirty="0" err="1"/>
              <a:t>minDist</a:t>
            </a:r>
            <a:r>
              <a:rPr lang="en-US" dirty="0"/>
              <a:t>: minimum distance between the centers of the detected circles.</a:t>
            </a:r>
          </a:p>
          <a:p>
            <a:pPr marL="0" indent="0">
              <a:buNone/>
            </a:pPr>
            <a:r>
              <a:rPr lang="en-US" dirty="0"/>
              <a:t>        </a:t>
            </a:r>
            <a:r>
              <a:rPr lang="en-US" dirty="0" err="1"/>
              <a:t>minRadius</a:t>
            </a:r>
            <a:r>
              <a:rPr lang="en-US" dirty="0"/>
              <a:t>: minimum circle radius.</a:t>
            </a:r>
          </a:p>
          <a:p>
            <a:pPr marL="0" indent="0">
              <a:buNone/>
            </a:pPr>
            <a:r>
              <a:rPr lang="en-US" dirty="0"/>
              <a:t>        </a:t>
            </a:r>
            <a:r>
              <a:rPr lang="en-US" dirty="0" err="1"/>
              <a:t>maxRadius</a:t>
            </a:r>
            <a:r>
              <a:rPr lang="en-US" dirty="0"/>
              <a:t>: maximum circle radius.</a:t>
            </a:r>
          </a:p>
          <a:p>
            <a:pPr marL="0" indent="0">
              <a:buNone/>
            </a:pPr>
            <a:r>
              <a:rPr lang="en-US" dirty="0"/>
              <a:t>Return: an uint16 </a:t>
            </a:r>
            <a:r>
              <a:rPr lang="en-US" dirty="0" err="1"/>
              <a:t>numpy</a:t>
            </a:r>
            <a:r>
              <a:rPr lang="en-US" dirty="0"/>
              <a:t> array shaped </a:t>
            </a:r>
            <a:r>
              <a:rPr lang="en-US" dirty="0" err="1"/>
              <a:t>circleNum</a:t>
            </a:r>
            <a:r>
              <a:rPr lang="en-US" dirty="0"/>
              <a:t>*3 if </a:t>
            </a:r>
            <a:r>
              <a:rPr lang="en-US" dirty="0" err="1"/>
              <a:t>circleNum</a:t>
            </a:r>
            <a:r>
              <a:rPr lang="en-US" dirty="0"/>
              <a:t>&gt;0, ([[</a:t>
            </a:r>
            <a:r>
              <a:rPr lang="en-US" dirty="0" err="1"/>
              <a:t>circleX</a:t>
            </a:r>
            <a:r>
              <a:rPr lang="en-US" dirty="0"/>
              <a:t>, </a:t>
            </a:r>
            <a:r>
              <a:rPr lang="en-US" dirty="0" err="1"/>
              <a:t>circleY,radius</a:t>
            </a:r>
            <a:r>
              <a:rPr lang="en-US" dirty="0"/>
              <a:t>]])</a:t>
            </a:r>
          </a:p>
          <a:p>
            <a:pPr marL="0" indent="0">
              <a:buNone/>
            </a:pPr>
            <a:r>
              <a:rPr lang="en-US" dirty="0"/>
              <a:t>            else return None.</a:t>
            </a:r>
          </a:p>
          <a:p>
            <a:pPr marL="0" indent="0">
              <a:buNone/>
            </a:pPr>
            <a:r>
              <a:rPr lang="en-US" dirty="0"/>
              <a:t>    """</a:t>
            </a:r>
          </a:p>
          <a:p>
            <a:pPr marL="0" indent="0">
              <a:buNone/>
            </a:pPr>
            <a:r>
              <a:rPr lang="en-US" dirty="0"/>
              <a:t>    circles = cv2.HoughCircles(np.uint8(</a:t>
            </a:r>
            <a:r>
              <a:rPr lang="en-US" dirty="0" err="1"/>
              <a:t>img</a:t>
            </a:r>
            <a:r>
              <a:rPr lang="en-US" dirty="0"/>
              <a:t>), cv2.HOUGH_GRADIENT, 1, </a:t>
            </a:r>
            <a:r>
              <a:rPr lang="en-US" dirty="0" err="1"/>
              <a:t>minDist</a:t>
            </a:r>
            <a:r>
              <a:rPr lang="en-US" dirty="0"/>
              <a:t>, </a:t>
            </a:r>
          </a:p>
          <a:p>
            <a:pPr marL="0" indent="0">
              <a:buNone/>
            </a:pPr>
            <a:r>
              <a:rPr lang="en-US" dirty="0"/>
              <a:t>                                param1=150, param2=15, </a:t>
            </a:r>
            <a:r>
              <a:rPr lang="en-US" dirty="0" err="1"/>
              <a:t>minRadius</a:t>
            </a:r>
            <a:r>
              <a:rPr lang="en-US" dirty="0"/>
              <a:t>=</a:t>
            </a:r>
            <a:r>
              <a:rPr lang="en-US" dirty="0" err="1"/>
              <a:t>minRadius</a:t>
            </a:r>
            <a:r>
              <a:rPr lang="en-US" dirty="0"/>
              <a:t>, </a:t>
            </a:r>
            <a:r>
              <a:rPr lang="en-US" dirty="0" err="1"/>
              <a:t>maxRadius</a:t>
            </a:r>
            <a:r>
              <a:rPr lang="en-US" dirty="0"/>
              <a:t>=</a:t>
            </a:r>
            <a:r>
              <a:rPr lang="en-US" dirty="0" err="1"/>
              <a:t>maxRadius</a:t>
            </a:r>
            <a:r>
              <a:rPr lang="en-US" dirty="0"/>
              <a:t>)</a:t>
            </a:r>
          </a:p>
          <a:p>
            <a:pPr marL="0" indent="0">
              <a:buNone/>
            </a:pPr>
            <a:r>
              <a:rPr lang="en-US" dirty="0"/>
              <a:t>#param1: Accumulator higher threshold 150 (higher threshold of the two passed to Canny Edge Detector)</a:t>
            </a:r>
          </a:p>
          <a:p>
            <a:pPr marL="0" indent="0">
              <a:buNone/>
            </a:pPr>
            <a:r>
              <a:rPr lang="en-US" sz="2700" dirty="0"/>
              <a:t>#param2: Accumulator threshold for the circle centers at the detection stage.</a:t>
            </a:r>
          </a:p>
        </p:txBody>
      </p:sp>
      <p:sp>
        <p:nvSpPr>
          <p:cNvPr id="8" name="TextBox 7">
            <a:extLst>
              <a:ext uri="{FF2B5EF4-FFF2-40B4-BE49-F238E27FC236}">
                <a16:creationId xmlns:a16="http://schemas.microsoft.com/office/drawing/2014/main" id="{70C9884F-2366-1B4C-C52B-DF5A285F4C88}"/>
              </a:ext>
            </a:extLst>
          </p:cNvPr>
          <p:cNvSpPr txBox="1"/>
          <p:nvPr/>
        </p:nvSpPr>
        <p:spPr>
          <a:xfrm>
            <a:off x="411480" y="5132845"/>
            <a:ext cx="11265131" cy="1200329"/>
          </a:xfrm>
          <a:prstGeom prst="rect">
            <a:avLst/>
          </a:prstGeom>
          <a:noFill/>
        </p:spPr>
        <p:txBody>
          <a:bodyPr wrap="square" rtlCol="0">
            <a:spAutoFit/>
          </a:bodyPr>
          <a:lstStyle/>
          <a:p>
            <a:r>
              <a:rPr lang="en-US" sz="2400" dirty="0"/>
              <a:t>The red golf ball in the competition is standard, so we could estimate the red ball radius range in the image, depending on the image resolution. The parameters above were set under </a:t>
            </a:r>
            <a:r>
              <a:rPr lang="en-US" altLang="ja-JP" sz="2400" dirty="0"/>
              <a:t>640×480 resolution.</a:t>
            </a:r>
            <a:endParaRPr lang="en-US" sz="2400" dirty="0"/>
          </a:p>
        </p:txBody>
      </p:sp>
    </p:spTree>
    <p:extLst>
      <p:ext uri="{BB962C8B-B14F-4D97-AF65-F5344CB8AC3E}">
        <p14:creationId xmlns:p14="http://schemas.microsoft.com/office/powerpoint/2010/main" val="2717986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D1ED2-4874-991F-2401-DB5CD5C3EB29}"/>
              </a:ext>
            </a:extLst>
          </p:cNvPr>
          <p:cNvSpPr>
            <a:spLocks noGrp="1"/>
          </p:cNvSpPr>
          <p:nvPr>
            <p:ph type="title"/>
          </p:nvPr>
        </p:nvSpPr>
        <p:spPr>
          <a:xfrm>
            <a:off x="162099" y="-78220"/>
            <a:ext cx="10515600" cy="1325563"/>
          </a:xfrm>
        </p:spPr>
        <p:txBody>
          <a:bodyPr/>
          <a:lstStyle/>
          <a:p>
            <a:r>
              <a:rPr lang="en-US" sz="2500" dirty="0">
                <a:latin typeface="Arial" panose="020B0604020202020204" pitchFamily="34" charset="0"/>
                <a:cs typeface="Arial" panose="020B0604020202020204" pitchFamily="34" charset="0"/>
              </a:rPr>
              <a:t>Computer</a:t>
            </a:r>
            <a:r>
              <a:rPr lang="en-US" b="0" i="0" dirty="0">
                <a:solidFill>
                  <a:srgbClr val="1F1F1F"/>
                </a:solidFill>
                <a:effectLst/>
                <a:latin typeface="Google Sans"/>
              </a:rPr>
              <a:t> </a:t>
            </a:r>
            <a:r>
              <a:rPr lang="en-US" sz="2500" dirty="0">
                <a:latin typeface="Arial" panose="020B0604020202020204" pitchFamily="34" charset="0"/>
                <a:cs typeface="Arial" panose="020B0604020202020204" pitchFamily="34" charset="0"/>
              </a:rPr>
              <a:t>Vision Module for Optical Character Recognition(OCR)</a:t>
            </a:r>
          </a:p>
        </p:txBody>
      </p:sp>
      <p:sp>
        <p:nvSpPr>
          <p:cNvPr id="3" name="Content Placeholder 2">
            <a:extLst>
              <a:ext uri="{FF2B5EF4-FFF2-40B4-BE49-F238E27FC236}">
                <a16:creationId xmlns:a16="http://schemas.microsoft.com/office/drawing/2014/main" id="{E4765687-D4B0-F6A3-E759-1DBC6EF73014}"/>
              </a:ext>
            </a:extLst>
          </p:cNvPr>
          <p:cNvSpPr>
            <a:spLocks noGrp="1"/>
          </p:cNvSpPr>
          <p:nvPr>
            <p:ph idx="1"/>
          </p:nvPr>
        </p:nvSpPr>
        <p:spPr>
          <a:xfrm>
            <a:off x="162099" y="1143982"/>
            <a:ext cx="11414759" cy="4351338"/>
          </a:xfrm>
        </p:spPr>
        <p:txBody>
          <a:bodyPr/>
          <a:lstStyle/>
          <a:p>
            <a:pPr marL="0" indent="0">
              <a:buNone/>
            </a:pPr>
            <a:r>
              <a:rPr lang="en-US" sz="2400" dirty="0"/>
              <a:t>During</a:t>
            </a:r>
            <a:r>
              <a:rPr lang="en-US" dirty="0"/>
              <a:t> </a:t>
            </a:r>
            <a:r>
              <a:rPr lang="en-US" sz="2400" dirty="0"/>
              <a:t>the competition, Nao robots needed to understand real-time instructions in Chinese.  So I developed neural network-based (EAST and LSTM) text detection and recognition system.</a:t>
            </a:r>
          </a:p>
          <a:p>
            <a:pPr marL="0" indent="0">
              <a:buNone/>
            </a:pPr>
            <a:endParaRPr lang="en-US" dirty="0"/>
          </a:p>
        </p:txBody>
      </p:sp>
      <p:sp>
        <p:nvSpPr>
          <p:cNvPr id="4" name="TextBox 3">
            <a:extLst>
              <a:ext uri="{FF2B5EF4-FFF2-40B4-BE49-F238E27FC236}">
                <a16:creationId xmlns:a16="http://schemas.microsoft.com/office/drawing/2014/main" id="{776AA021-9A0C-2D7B-9BF9-322341099832}"/>
              </a:ext>
            </a:extLst>
          </p:cNvPr>
          <p:cNvSpPr txBox="1"/>
          <p:nvPr/>
        </p:nvSpPr>
        <p:spPr>
          <a:xfrm>
            <a:off x="225829" y="2469545"/>
            <a:ext cx="11287297" cy="1569660"/>
          </a:xfrm>
          <a:prstGeom prst="rect">
            <a:avLst/>
          </a:prstGeom>
          <a:noFill/>
        </p:spPr>
        <p:txBody>
          <a:bodyPr wrap="square" rtlCol="0">
            <a:spAutoFit/>
          </a:bodyPr>
          <a:lstStyle/>
          <a:p>
            <a:r>
              <a:rPr lang="en-US" sz="2400" dirty="0"/>
              <a:t>Tesseract OCR engine: optical character recognition engine for various operating systems. It is free software, released under the Apache License. Originally developed by Hewlett-Packard as proprietary software in the 1980s, it was released as open source in 2005 and development was sponsored by Google in 2006.</a:t>
            </a:r>
          </a:p>
        </p:txBody>
      </p:sp>
    </p:spTree>
    <p:extLst>
      <p:ext uri="{BB962C8B-B14F-4D97-AF65-F5344CB8AC3E}">
        <p14:creationId xmlns:p14="http://schemas.microsoft.com/office/powerpoint/2010/main" val="1336253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F8050-8927-370D-414D-A16FF7D82636}"/>
              </a:ext>
            </a:extLst>
          </p:cNvPr>
          <p:cNvSpPr>
            <a:spLocks noGrp="1"/>
          </p:cNvSpPr>
          <p:nvPr>
            <p:ph type="title"/>
          </p:nvPr>
        </p:nvSpPr>
        <p:spPr>
          <a:xfrm>
            <a:off x="400396" y="0"/>
            <a:ext cx="10515600" cy="1325563"/>
          </a:xfrm>
        </p:spPr>
        <p:txBody>
          <a:bodyPr>
            <a:normAutofit/>
          </a:bodyPr>
          <a:lstStyle/>
          <a:p>
            <a:r>
              <a:rPr lang="en-US" sz="2500" dirty="0">
                <a:latin typeface="Arial" panose="020B0604020202020204" pitchFamily="34" charset="0"/>
                <a:cs typeface="Arial" panose="020B0604020202020204" pitchFamily="34" charset="0"/>
              </a:rPr>
              <a:t>Building</a:t>
            </a:r>
            <a:r>
              <a:rPr lang="en-US" sz="2800" dirty="0"/>
              <a:t> </a:t>
            </a:r>
            <a:r>
              <a:rPr lang="en-US" sz="2500" dirty="0">
                <a:latin typeface="Arial" panose="020B0604020202020204" pitchFamily="34" charset="0"/>
                <a:cs typeface="Arial" panose="020B0604020202020204" pitchFamily="34" charset="0"/>
              </a:rPr>
              <a:t>Environment</a:t>
            </a:r>
          </a:p>
        </p:txBody>
      </p:sp>
      <p:sp>
        <p:nvSpPr>
          <p:cNvPr id="3" name="Content Placeholder 2">
            <a:extLst>
              <a:ext uri="{FF2B5EF4-FFF2-40B4-BE49-F238E27FC236}">
                <a16:creationId xmlns:a16="http://schemas.microsoft.com/office/drawing/2014/main" id="{8C2524E6-1D61-C64F-3F08-D9B13A79A29B}"/>
              </a:ext>
            </a:extLst>
          </p:cNvPr>
          <p:cNvSpPr>
            <a:spLocks noGrp="1"/>
          </p:cNvSpPr>
          <p:nvPr>
            <p:ph idx="1"/>
          </p:nvPr>
        </p:nvSpPr>
        <p:spPr>
          <a:xfrm>
            <a:off x="466898" y="997961"/>
            <a:ext cx="10515600" cy="2493384"/>
          </a:xfrm>
        </p:spPr>
        <p:txBody>
          <a:bodyPr>
            <a:normAutofit/>
          </a:bodyPr>
          <a:lstStyle/>
          <a:p>
            <a:r>
              <a:rPr lang="en-US" altLang="zh-CN" sz="1800" dirty="0" err="1"/>
              <a:t>CMake</a:t>
            </a:r>
            <a:r>
              <a:rPr lang="en-US" altLang="zh-CN" sz="1800" dirty="0"/>
              <a:t>  </a:t>
            </a:r>
          </a:p>
          <a:p>
            <a:r>
              <a:rPr lang="en-US" altLang="zh-CN" sz="1800" dirty="0"/>
              <a:t>Header file: include Tesseract directories</a:t>
            </a:r>
          </a:p>
          <a:p>
            <a:r>
              <a:rPr lang="en-US" sz="1800" dirty="0"/>
              <a:t>Find Tesseract and </a:t>
            </a:r>
            <a:r>
              <a:rPr lang="en-US" sz="1800" dirty="0" err="1"/>
              <a:t>Leptonica</a:t>
            </a:r>
            <a:r>
              <a:rPr lang="en-US" sz="1800" dirty="0"/>
              <a:t> libraries</a:t>
            </a:r>
          </a:p>
          <a:p>
            <a:pPr marL="0" indent="0">
              <a:buNone/>
            </a:pPr>
            <a:r>
              <a:rPr lang="en-US" sz="1800" dirty="0" err="1"/>
              <a:t>Leptonica</a:t>
            </a:r>
            <a:r>
              <a:rPr lang="en-US" sz="1800" dirty="0"/>
              <a:t> is a  pedagogically-oriented open source library containing software that is broadly useful for image processing and image analysis applications.</a:t>
            </a:r>
          </a:p>
          <a:p>
            <a:r>
              <a:rPr lang="en-US" sz="1800" dirty="0"/>
              <a:t>Include OpenCV and Tesseract two directories</a:t>
            </a:r>
          </a:p>
          <a:p>
            <a:r>
              <a:rPr lang="en-US" sz="1800" dirty="0"/>
              <a:t>Link Target OpenCV, Tesseract and </a:t>
            </a:r>
            <a:r>
              <a:rPr lang="en-US" sz="1800" dirty="0" err="1"/>
              <a:t>Leptonica</a:t>
            </a:r>
            <a:endParaRPr lang="en-US" sz="1800" dirty="0"/>
          </a:p>
        </p:txBody>
      </p:sp>
      <p:pic>
        <p:nvPicPr>
          <p:cNvPr id="4" name="Picture 3">
            <a:extLst>
              <a:ext uri="{FF2B5EF4-FFF2-40B4-BE49-F238E27FC236}">
                <a16:creationId xmlns:a16="http://schemas.microsoft.com/office/drawing/2014/main" id="{B25017F3-2E07-B270-3FF0-9D25AA76ED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74" y="3597152"/>
            <a:ext cx="5651226" cy="1213213"/>
          </a:xfrm>
          <a:prstGeom prst="rect">
            <a:avLst/>
          </a:prstGeom>
        </p:spPr>
      </p:pic>
      <p:pic>
        <p:nvPicPr>
          <p:cNvPr id="5" name="Picture 4">
            <a:extLst>
              <a:ext uri="{FF2B5EF4-FFF2-40B4-BE49-F238E27FC236}">
                <a16:creationId xmlns:a16="http://schemas.microsoft.com/office/drawing/2014/main" id="{2A21838E-B4F8-5AFB-92D2-31BFD5985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5486" y="4987884"/>
            <a:ext cx="5651225" cy="1257395"/>
          </a:xfrm>
          <a:prstGeom prst="rect">
            <a:avLst/>
          </a:prstGeom>
        </p:spPr>
      </p:pic>
      <p:pic>
        <p:nvPicPr>
          <p:cNvPr id="6" name="Picture 5">
            <a:extLst>
              <a:ext uri="{FF2B5EF4-FFF2-40B4-BE49-F238E27FC236}">
                <a16:creationId xmlns:a16="http://schemas.microsoft.com/office/drawing/2014/main" id="{5EAB3D3E-665A-3B85-30A7-A2C322866B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911" y="4955930"/>
            <a:ext cx="5651225" cy="1289349"/>
          </a:xfrm>
          <a:prstGeom prst="rect">
            <a:avLst/>
          </a:prstGeom>
        </p:spPr>
      </p:pic>
      <p:pic>
        <p:nvPicPr>
          <p:cNvPr id="7" name="Picture 6">
            <a:extLst>
              <a:ext uri="{FF2B5EF4-FFF2-40B4-BE49-F238E27FC236}">
                <a16:creationId xmlns:a16="http://schemas.microsoft.com/office/drawing/2014/main" id="{03E5A5EC-7AB6-CA15-36A6-8750AF4144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65216" y="2828156"/>
            <a:ext cx="3751026" cy="2007604"/>
          </a:xfrm>
          <a:prstGeom prst="rect">
            <a:avLst/>
          </a:prstGeom>
        </p:spPr>
      </p:pic>
    </p:spTree>
    <p:extLst>
      <p:ext uri="{BB962C8B-B14F-4D97-AF65-F5344CB8AC3E}">
        <p14:creationId xmlns:p14="http://schemas.microsoft.com/office/powerpoint/2010/main" val="3649914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10BEB-3D61-78D0-DEAA-527E9839E0D7}"/>
              </a:ext>
            </a:extLst>
          </p:cNvPr>
          <p:cNvSpPr>
            <a:spLocks noGrp="1"/>
          </p:cNvSpPr>
          <p:nvPr>
            <p:ph type="title"/>
          </p:nvPr>
        </p:nvSpPr>
        <p:spPr>
          <a:xfrm>
            <a:off x="284019" y="76951"/>
            <a:ext cx="10515600" cy="1325563"/>
          </a:xfrm>
        </p:spPr>
        <p:txBody>
          <a:bodyPr/>
          <a:lstStyle/>
          <a:p>
            <a:r>
              <a:rPr lang="en-US" sz="2500" dirty="0">
                <a:latin typeface="Arial" panose="020B0604020202020204" pitchFamily="34" charset="0"/>
                <a:cs typeface="Arial" panose="020B0604020202020204" pitchFamily="34" charset="0"/>
              </a:rPr>
              <a:t>Tesseract</a:t>
            </a:r>
            <a:r>
              <a:rPr lang="en-US" dirty="0"/>
              <a:t> </a:t>
            </a:r>
            <a:r>
              <a:rPr lang="en-US" sz="2500" dirty="0">
                <a:latin typeface="Arial" panose="020B0604020202020204" pitchFamily="34" charset="0"/>
                <a:cs typeface="Arial" panose="020B0604020202020204" pitchFamily="34" charset="0"/>
              </a:rPr>
              <a:t>OCR recognition </a:t>
            </a:r>
          </a:p>
        </p:txBody>
      </p:sp>
      <p:sp>
        <p:nvSpPr>
          <p:cNvPr id="3" name="Content Placeholder 2">
            <a:extLst>
              <a:ext uri="{FF2B5EF4-FFF2-40B4-BE49-F238E27FC236}">
                <a16:creationId xmlns:a16="http://schemas.microsoft.com/office/drawing/2014/main" id="{99363921-4F0C-F2F3-21C6-37E99F63A6A4}"/>
              </a:ext>
            </a:extLst>
          </p:cNvPr>
          <p:cNvSpPr>
            <a:spLocks noGrp="1"/>
          </p:cNvSpPr>
          <p:nvPr>
            <p:ph idx="1"/>
          </p:nvPr>
        </p:nvSpPr>
        <p:spPr>
          <a:xfrm>
            <a:off x="339435" y="1253331"/>
            <a:ext cx="11691851" cy="4351338"/>
          </a:xfrm>
        </p:spPr>
        <p:txBody>
          <a:bodyPr>
            <a:normAutofit/>
          </a:bodyPr>
          <a:lstStyle/>
          <a:p>
            <a:r>
              <a:rPr lang="en-US" sz="2400" dirty="0"/>
              <a:t>Installed</a:t>
            </a:r>
            <a:r>
              <a:rPr lang="en-US" dirty="0"/>
              <a:t> </a:t>
            </a:r>
            <a:r>
              <a:rPr lang="en-US" sz="2400" dirty="0"/>
              <a:t>Tesseract 3 using Homebrew                            brew install tesseract –HEAD</a:t>
            </a:r>
          </a:p>
          <a:p>
            <a:r>
              <a:rPr lang="en-US" sz="2400" dirty="0"/>
              <a:t>Adopted LSTM recognition engine</a:t>
            </a:r>
          </a:p>
          <a:p>
            <a:r>
              <a:rPr lang="en-US" sz="2400" dirty="0"/>
              <a:t>First use OpenCV function </a:t>
            </a:r>
            <a:r>
              <a:rPr lang="en-US" sz="2400" dirty="0" err="1"/>
              <a:t>selectROI</a:t>
            </a:r>
            <a:r>
              <a:rPr lang="en-US" sz="2400" dirty="0"/>
              <a:t>() to choose the region of the image frame containing the characters</a:t>
            </a:r>
          </a:p>
          <a:p>
            <a:r>
              <a:rPr lang="en-US" sz="2400" dirty="0"/>
              <a:t>Notice Tesseract OCR is language-sensitive, meaning we need to install the corresponding right library for a language</a:t>
            </a:r>
          </a:p>
          <a:p>
            <a:r>
              <a:rPr lang="en-US" sz="2400" dirty="0"/>
              <a:t>Because labels in the instruction had a fixed format, I created regular expression to match the text in the input frame from the robot’s camera</a:t>
            </a:r>
          </a:p>
        </p:txBody>
      </p:sp>
    </p:spTree>
    <p:extLst>
      <p:ext uri="{BB962C8B-B14F-4D97-AF65-F5344CB8AC3E}">
        <p14:creationId xmlns:p14="http://schemas.microsoft.com/office/powerpoint/2010/main" val="1400541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C6AD1-B550-CE22-CEAC-F76E77ABE825}"/>
              </a:ext>
            </a:extLst>
          </p:cNvPr>
          <p:cNvSpPr>
            <a:spLocks noGrp="1"/>
          </p:cNvSpPr>
          <p:nvPr>
            <p:ph type="title"/>
          </p:nvPr>
        </p:nvSpPr>
        <p:spPr>
          <a:xfrm>
            <a:off x="272935" y="54784"/>
            <a:ext cx="10515600" cy="1325563"/>
          </a:xfrm>
        </p:spPr>
        <p:txBody>
          <a:bodyPr/>
          <a:lstStyle/>
          <a:p>
            <a:r>
              <a:rPr lang="en-US" sz="2500" dirty="0">
                <a:latin typeface="Arial" panose="020B0604020202020204" pitchFamily="34" charset="0"/>
                <a:cs typeface="Arial" panose="020B0604020202020204" pitchFamily="34" charset="0"/>
              </a:rPr>
              <a:t>Regular</a:t>
            </a:r>
            <a:r>
              <a:rPr lang="en-US" dirty="0"/>
              <a:t> </a:t>
            </a:r>
            <a:r>
              <a:rPr lang="en-US" sz="2500" dirty="0">
                <a:latin typeface="Arial" panose="020B0604020202020204" pitchFamily="34" charset="0"/>
                <a:cs typeface="Arial" panose="020B0604020202020204" pitchFamily="34" charset="0"/>
              </a:rPr>
              <a:t>Expression</a:t>
            </a:r>
          </a:p>
        </p:txBody>
      </p:sp>
      <p:pic>
        <p:nvPicPr>
          <p:cNvPr id="4" name="Content Placeholder 3">
            <a:extLst>
              <a:ext uri="{FF2B5EF4-FFF2-40B4-BE49-F238E27FC236}">
                <a16:creationId xmlns:a16="http://schemas.microsoft.com/office/drawing/2014/main" id="{607E6851-EEAF-510F-7F55-938AF9EDBC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6240" y="1380347"/>
            <a:ext cx="8066611" cy="2660002"/>
          </a:xfrm>
        </p:spPr>
      </p:pic>
      <p:sp>
        <p:nvSpPr>
          <p:cNvPr id="5" name="TextBox 4">
            <a:extLst>
              <a:ext uri="{FF2B5EF4-FFF2-40B4-BE49-F238E27FC236}">
                <a16:creationId xmlns:a16="http://schemas.microsoft.com/office/drawing/2014/main" id="{A6E0A9DD-403E-C74F-D542-3746AB3D445F}"/>
              </a:ext>
            </a:extLst>
          </p:cNvPr>
          <p:cNvSpPr txBox="1"/>
          <p:nvPr/>
        </p:nvSpPr>
        <p:spPr>
          <a:xfrm>
            <a:off x="656706" y="4299170"/>
            <a:ext cx="10554392" cy="1954381"/>
          </a:xfrm>
          <a:prstGeom prst="rect">
            <a:avLst/>
          </a:prstGeom>
          <a:noFill/>
        </p:spPr>
        <p:txBody>
          <a:bodyPr wrap="square" rtlCol="0">
            <a:spAutoFit/>
          </a:bodyPr>
          <a:lstStyle/>
          <a:p>
            <a:pPr marL="342900" indent="-342900" algn="l" defTabSz="457200">
              <a:spcBef>
                <a:spcPts val="1000"/>
              </a:spcBef>
              <a:spcAft>
                <a:spcPts val="0"/>
              </a:spcAft>
              <a:buClr>
                <a:schemeClr val="accent1"/>
              </a:buClr>
              <a:buSzPct val="80000"/>
              <a:buFont typeface="Arial" panose="020B0604020202020204" pitchFamily="34" charset="0"/>
              <a:buChar char="•"/>
            </a:pPr>
            <a:r>
              <a:rPr lang="en-US" altLang="zh-CN" sz="2400" dirty="0"/>
              <a:t>include</a:t>
            </a:r>
            <a:r>
              <a:rPr lang="en-US" sz="2400" dirty="0"/>
              <a:t>&lt;</a:t>
            </a:r>
            <a:r>
              <a:rPr lang="en-US" sz="2400" dirty="0" err="1"/>
              <a:t>regex.h</a:t>
            </a:r>
            <a:r>
              <a:rPr lang="en-US" sz="2400" dirty="0"/>
              <a:t>&gt;</a:t>
            </a:r>
          </a:p>
          <a:p>
            <a:pPr marL="342900" indent="-342900" algn="l" defTabSz="457200">
              <a:spcBef>
                <a:spcPts val="1000"/>
              </a:spcBef>
              <a:spcAft>
                <a:spcPts val="0"/>
              </a:spcAft>
              <a:buClr>
                <a:schemeClr val="accent1"/>
              </a:buClr>
              <a:buSzPct val="80000"/>
              <a:buFont typeface="Arial" panose="020B0604020202020204" pitchFamily="34" charset="0"/>
              <a:buChar char="•"/>
            </a:pPr>
            <a:r>
              <a:rPr lang="en-US" altLang="zh-CN" sz="2400" dirty="0"/>
              <a:t>R</a:t>
            </a:r>
            <a:r>
              <a:rPr lang="en-US" sz="2400" dirty="0"/>
              <a:t>emaining:</a:t>
            </a:r>
            <a:r>
              <a:rPr lang="zh-CN" altLang="en-US" sz="2400" dirty="0"/>
              <a:t> </a:t>
            </a:r>
            <a:r>
              <a:rPr lang="en-US" altLang="zh-CN" sz="2400" dirty="0"/>
              <a:t>let remaining equal </a:t>
            </a:r>
            <a:r>
              <a:rPr lang="en-US" altLang="zh-CN" sz="2400" dirty="0" err="1"/>
              <a:t>outText</a:t>
            </a:r>
            <a:r>
              <a:rPr lang="en-US" altLang="zh-CN" sz="2400" dirty="0"/>
              <a:t> value</a:t>
            </a:r>
            <a:endParaRPr lang="en-US" sz="2400" dirty="0"/>
          </a:p>
          <a:p>
            <a:pPr marL="342900" indent="-342900" algn="l" defTabSz="457200">
              <a:spcBef>
                <a:spcPts val="1000"/>
              </a:spcBef>
              <a:spcAft>
                <a:spcPts val="0"/>
              </a:spcAft>
              <a:buClr>
                <a:schemeClr val="accent1"/>
              </a:buClr>
              <a:buSzPct val="80000"/>
              <a:buFont typeface="Arial" panose="020B0604020202020204" pitchFamily="34" charset="0"/>
              <a:buChar char="•"/>
            </a:pPr>
            <a:r>
              <a:rPr lang="en-US" sz="2400" dirty="0">
                <a:hlinkClick r:id="rId3">
                  <a:extLst>
                    <a:ext uri="{A12FA001-AC4F-418D-AE19-62706E023703}">
                      <ahyp:hlinkClr xmlns:ahyp="http://schemas.microsoft.com/office/drawing/2018/hyperlinkcolor" val="tx"/>
                    </a:ext>
                  </a:extLst>
                </a:hlinkClick>
              </a:rPr>
              <a:t>\\d\\d\\d[a-z] </a:t>
            </a:r>
            <a:endParaRPr lang="en-US" sz="2400" dirty="0"/>
          </a:p>
          <a:p>
            <a:pPr marL="342900" indent="-342900" algn="l" defTabSz="457200">
              <a:spcBef>
                <a:spcPts val="1000"/>
              </a:spcBef>
              <a:spcAft>
                <a:spcPts val="0"/>
              </a:spcAft>
              <a:buClr>
                <a:schemeClr val="accent1"/>
              </a:buClr>
              <a:buSzPct val="80000"/>
              <a:buFont typeface="Arial" panose="020B0604020202020204" pitchFamily="34" charset="0"/>
              <a:buChar char="•"/>
            </a:pPr>
            <a:r>
              <a:rPr lang="en-US" sz="2400" dirty="0"/>
              <a:t>Output</a:t>
            </a:r>
            <a:r>
              <a:rPr lang="zh-CN" altLang="en-US" sz="2400" dirty="0"/>
              <a:t> </a:t>
            </a:r>
            <a:r>
              <a:rPr lang="en-US" sz="2400" dirty="0" err="1"/>
              <a:t>cmatch</a:t>
            </a:r>
            <a:r>
              <a:rPr lang="zh-CN" altLang="en-US" sz="2400" dirty="0"/>
              <a:t> </a:t>
            </a:r>
            <a:r>
              <a:rPr lang="en-US" altLang="zh-CN" sz="2400" dirty="0"/>
              <a:t>class,  </a:t>
            </a:r>
            <a:r>
              <a:rPr lang="en-US" sz="2400" dirty="0"/>
              <a:t>match string</a:t>
            </a:r>
            <a:r>
              <a:rPr lang="en-US" altLang="zh-CN" sz="2400" dirty="0"/>
              <a:t> suffix   -&gt;</a:t>
            </a:r>
            <a:r>
              <a:rPr lang="en-US" sz="2400" dirty="0"/>
              <a:t>remaining</a:t>
            </a:r>
          </a:p>
        </p:txBody>
      </p:sp>
    </p:spTree>
    <p:extLst>
      <p:ext uri="{BB962C8B-B14F-4D97-AF65-F5344CB8AC3E}">
        <p14:creationId xmlns:p14="http://schemas.microsoft.com/office/powerpoint/2010/main" val="2649315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B8797-5CB7-F897-0EA6-298D05797510}"/>
              </a:ext>
            </a:extLst>
          </p:cNvPr>
          <p:cNvSpPr>
            <a:spLocks noGrp="1"/>
          </p:cNvSpPr>
          <p:nvPr>
            <p:ph type="title"/>
          </p:nvPr>
        </p:nvSpPr>
        <p:spPr>
          <a:xfrm>
            <a:off x="766156" y="248747"/>
            <a:ext cx="10515600" cy="959370"/>
          </a:xfrm>
        </p:spPr>
        <p:txBody>
          <a:bodyPr/>
          <a:lstStyle/>
          <a:p>
            <a:r>
              <a:rPr lang="en-US" sz="3600" dirty="0">
                <a:latin typeface="Arial" panose="020B0604020202020204" pitchFamily="34" charset="0"/>
                <a:cs typeface="Arial" panose="020B0604020202020204" pitchFamily="34" charset="0"/>
              </a:rPr>
              <a:t>Summary</a:t>
            </a:r>
          </a:p>
        </p:txBody>
      </p:sp>
      <p:sp>
        <p:nvSpPr>
          <p:cNvPr id="4" name="TextBox 3">
            <a:extLst>
              <a:ext uri="{FF2B5EF4-FFF2-40B4-BE49-F238E27FC236}">
                <a16:creationId xmlns:a16="http://schemas.microsoft.com/office/drawing/2014/main" id="{B20BAE16-28A7-CCDA-F588-EB3CF8A6E06B}"/>
              </a:ext>
            </a:extLst>
          </p:cNvPr>
          <p:cNvSpPr txBox="1"/>
          <p:nvPr/>
        </p:nvSpPr>
        <p:spPr>
          <a:xfrm>
            <a:off x="766156" y="1208117"/>
            <a:ext cx="10988040" cy="830997"/>
          </a:xfrm>
          <a:prstGeom prst="rect">
            <a:avLst/>
          </a:prstGeom>
          <a:noFill/>
        </p:spPr>
        <p:txBody>
          <a:bodyPr wrap="square" rtlCol="0">
            <a:spAutoFit/>
          </a:bodyPr>
          <a:lstStyle/>
          <a:p>
            <a:r>
              <a:rPr lang="en-US" sz="2400" dirty="0"/>
              <a:t>For autonomous, programmable humanoid robot such as Nao, in golf competition applications, I developed motion control and computer vision modules: </a:t>
            </a:r>
          </a:p>
        </p:txBody>
      </p:sp>
      <p:sp>
        <p:nvSpPr>
          <p:cNvPr id="7" name="TextBox 6">
            <a:extLst>
              <a:ext uri="{FF2B5EF4-FFF2-40B4-BE49-F238E27FC236}">
                <a16:creationId xmlns:a16="http://schemas.microsoft.com/office/drawing/2014/main" id="{97AA6B79-3414-75E0-E667-2F6C064C421D}"/>
              </a:ext>
            </a:extLst>
          </p:cNvPr>
          <p:cNvSpPr txBox="1"/>
          <p:nvPr/>
        </p:nvSpPr>
        <p:spPr>
          <a:xfrm>
            <a:off x="628996" y="2112206"/>
            <a:ext cx="10934008" cy="3231654"/>
          </a:xfrm>
          <a:prstGeom prst="rect">
            <a:avLst/>
          </a:prstGeom>
          <a:noFill/>
        </p:spPr>
        <p:txBody>
          <a:bodyPr wrap="square" rtlCol="0">
            <a:spAutoFit/>
          </a:bodyPr>
          <a:lstStyle/>
          <a:p>
            <a:pPr marL="342900" indent="-342900">
              <a:buFont typeface="Arial" panose="020B0604020202020204" pitchFamily="34" charset="0"/>
              <a:buChar char="•"/>
            </a:pPr>
            <a:r>
              <a:rPr lang="en-US" sz="2400" dirty="0"/>
              <a:t>A closed-loop feedback control using Force-sensitive Resistor (FSR) for controlling the coordinates of the hitting</a:t>
            </a:r>
          </a:p>
          <a:p>
            <a:pPr marL="342900" indent="-342900">
              <a:buFont typeface="Arial" panose="020B0604020202020204" pitchFamily="34" charset="0"/>
              <a:buChar char="•"/>
            </a:pPr>
            <a:r>
              <a:rPr lang="en-US" sz="2400" dirty="0"/>
              <a:t>Nao’s computer vision module for recognizing the red golf ball using base classes and derived classes and image processing methods such as RGB thresholding, image filtering, shape recognition, </a:t>
            </a:r>
            <a:r>
              <a:rPr lang="en-US" sz="2400" dirty="0" err="1"/>
              <a:t>etc</a:t>
            </a:r>
            <a:r>
              <a:rPr lang="en-US" sz="2400" dirty="0"/>
              <a:t> </a:t>
            </a:r>
          </a:p>
          <a:p>
            <a:pPr marL="342900" indent="-342900">
              <a:buFont typeface="Arial" panose="020B0604020202020204" pitchFamily="34" charset="0"/>
              <a:buChar char="•"/>
            </a:pPr>
            <a:r>
              <a:rPr lang="en-US" sz="2400" dirty="0"/>
              <a:t>Nao’s computer vision module for optical character recognition based on EAST and LSTM neutral networks adopting Tesseract OCR engine</a:t>
            </a:r>
          </a:p>
          <a:p>
            <a:endParaRPr lang="en-US" dirty="0"/>
          </a:p>
          <a:p>
            <a:endParaRPr lang="en-US" dirty="0"/>
          </a:p>
        </p:txBody>
      </p:sp>
    </p:spTree>
    <p:extLst>
      <p:ext uri="{BB962C8B-B14F-4D97-AF65-F5344CB8AC3E}">
        <p14:creationId xmlns:p14="http://schemas.microsoft.com/office/powerpoint/2010/main" val="1207416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23EEF-AA8B-48C3-6A87-841C9ED3A233}"/>
              </a:ext>
            </a:extLst>
          </p:cNvPr>
          <p:cNvSpPr>
            <a:spLocks noGrp="1"/>
          </p:cNvSpPr>
          <p:nvPr>
            <p:ph type="title"/>
          </p:nvPr>
        </p:nvSpPr>
        <p:spPr/>
        <p:txBody>
          <a:bodyPr/>
          <a:lstStyle/>
          <a:p>
            <a:r>
              <a:rPr lang="en-US" dirty="0"/>
              <a:t>Thank you so much!</a:t>
            </a:r>
          </a:p>
        </p:txBody>
      </p:sp>
      <p:sp>
        <p:nvSpPr>
          <p:cNvPr id="3" name="Content Placeholder 2">
            <a:extLst>
              <a:ext uri="{FF2B5EF4-FFF2-40B4-BE49-F238E27FC236}">
                <a16:creationId xmlns:a16="http://schemas.microsoft.com/office/drawing/2014/main" id="{28D9E696-8D4F-3E3B-06F6-D081B834BEB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39325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4415</TotalTime>
  <Words>1540</Words>
  <Application>Microsoft Office PowerPoint</Application>
  <PresentationFormat>Widescreen</PresentationFormat>
  <Paragraphs>147</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Google Sans</vt:lpstr>
      <vt:lpstr>Aptos</vt:lpstr>
      <vt:lpstr>Aptos Display</vt:lpstr>
      <vt:lpstr>Arial</vt:lpstr>
      <vt:lpstr>Helvetica</vt:lpstr>
      <vt:lpstr>Office Theme</vt:lpstr>
      <vt:lpstr>Motion Control and Computer Vision Application in Autonomous, Programmable Robots</vt:lpstr>
      <vt:lpstr>Robot Golfing Competition</vt:lpstr>
      <vt:lpstr>PowerPoint Presentation</vt:lpstr>
      <vt:lpstr>Correlation between the coordinates and the Force (Voltage/Resistance)</vt:lpstr>
      <vt:lpstr>Measurement and Data Logging of the Output Voltage</vt:lpstr>
      <vt:lpstr>Voltage Control over Arduino’s Serial Communication</vt:lpstr>
      <vt:lpstr>Implementation of the Feedback</vt:lpstr>
      <vt:lpstr>Computer Vision Program Architecture for Red Golf Ball Recognition</vt:lpstr>
      <vt:lpstr>Computer Vision Module for Red Golf Ball Recognition</vt:lpstr>
      <vt:lpstr>BallDetect(VisualBasis)</vt:lpstr>
      <vt:lpstr>Image Preprocessing</vt:lpstr>
      <vt:lpstr>Find Red Golf in the Image</vt:lpstr>
      <vt:lpstr>Computer Vision Module for Optical Character Recognition(OCR)</vt:lpstr>
      <vt:lpstr>Building Environment</vt:lpstr>
      <vt:lpstr>Tesseract OCR recognition </vt:lpstr>
      <vt:lpstr>Regular Expression</vt:lpstr>
      <vt:lpstr>Summary</vt:lpstr>
      <vt:lpstr>Thank you so much!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Fangjun Zhu</dc:creator>
  <cp:lastModifiedBy>Fangjun Zhu</cp:lastModifiedBy>
  <cp:revision>90</cp:revision>
  <dcterms:created xsi:type="dcterms:W3CDTF">2024-09-08T06:46:09Z</dcterms:created>
  <dcterms:modified xsi:type="dcterms:W3CDTF">2024-09-11T08:21:20Z</dcterms:modified>
</cp:coreProperties>
</file>